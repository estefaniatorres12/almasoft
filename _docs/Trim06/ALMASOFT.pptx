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Nunito SemiBold"/>
      <p:regular r:id="rId38"/>
      <p:bold r:id="rId39"/>
      <p:italic r:id="rId40"/>
      <p:boldItalic r:id="rId41"/>
    </p:embeddedFont>
    <p:embeddedFont>
      <p:font typeface="Nunito"/>
      <p:regular r:id="rId42"/>
      <p:bold r:id="rId43"/>
      <p:italic r:id="rId44"/>
      <p:boldItalic r:id="rId45"/>
    </p:embeddedFont>
    <p:embeddedFont>
      <p:font typeface="Montserrat"/>
      <p:regular r:id="rId46"/>
      <p:bold r:id="rId47"/>
      <p:italic r:id="rId48"/>
      <p:boldItalic r:id="rId49"/>
    </p:embeddedFont>
    <p:embeddedFont>
      <p:font typeface="Lato"/>
      <p:regular r:id="rId50"/>
      <p:bold r:id="rId51"/>
      <p:italic r:id="rId52"/>
      <p:boldItalic r:id="rId53"/>
    </p:embeddedFont>
    <p:embeddedFont>
      <p:font typeface="Work Sans Light"/>
      <p:regular r:id="rId54"/>
      <p:bold r:id="rId55"/>
      <p:italic r:id="rId56"/>
      <p:boldItalic r:id="rId57"/>
    </p:embeddedFont>
    <p:embeddedFont>
      <p:font typeface="Merriweather"/>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ACE348-82FC-406F-AD7B-E9AEA4884DA5}">
  <a:tblStyle styleId="{66ACE348-82FC-406F-AD7B-E9AEA4884DA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SemiBold-italic.fntdata"/><Relationship Id="rId42" Type="http://schemas.openxmlformats.org/officeDocument/2006/relationships/font" Target="fonts/Nunito-regular.fntdata"/><Relationship Id="rId41" Type="http://schemas.openxmlformats.org/officeDocument/2006/relationships/font" Target="fonts/NunitoSemiBold-boldItalic.fntdata"/><Relationship Id="rId44" Type="http://schemas.openxmlformats.org/officeDocument/2006/relationships/font" Target="fonts/Nunito-italic.fntdata"/><Relationship Id="rId43" Type="http://schemas.openxmlformats.org/officeDocument/2006/relationships/font" Target="fonts/Nunito-bold.fntdata"/><Relationship Id="rId46" Type="http://schemas.openxmlformats.org/officeDocument/2006/relationships/font" Target="fonts/Montserrat-regular.fntdata"/><Relationship Id="rId45" Type="http://schemas.openxmlformats.org/officeDocument/2006/relationships/font" Target="fonts/Nuni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Montserrat-italic.fntdata"/><Relationship Id="rId47" Type="http://schemas.openxmlformats.org/officeDocument/2006/relationships/font" Target="fonts/Montserrat-bold.fntdata"/><Relationship Id="rId49" Type="http://schemas.openxmlformats.org/officeDocument/2006/relationships/font" Target="fonts/Montserrat-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font" Target="fonts/NunitoSemiBold-bold.fntdata"/><Relationship Id="rId38" Type="http://schemas.openxmlformats.org/officeDocument/2006/relationships/font" Target="fonts/NunitoSemiBold-regular.fntdata"/><Relationship Id="rId61" Type="http://schemas.openxmlformats.org/officeDocument/2006/relationships/font" Target="fonts/Merriweather-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Merriweather-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Lato-bold.fntdata"/><Relationship Id="rId50" Type="http://schemas.openxmlformats.org/officeDocument/2006/relationships/font" Target="fonts/Lato-regular.fntdata"/><Relationship Id="rId53" Type="http://schemas.openxmlformats.org/officeDocument/2006/relationships/font" Target="fonts/Lato-boldItalic.fntdata"/><Relationship Id="rId52" Type="http://schemas.openxmlformats.org/officeDocument/2006/relationships/font" Target="fonts/Lato-italic.fntdata"/><Relationship Id="rId11" Type="http://schemas.openxmlformats.org/officeDocument/2006/relationships/slide" Target="slides/slide5.xml"/><Relationship Id="rId55" Type="http://schemas.openxmlformats.org/officeDocument/2006/relationships/font" Target="fonts/WorkSansLight-bold.fntdata"/><Relationship Id="rId10" Type="http://schemas.openxmlformats.org/officeDocument/2006/relationships/slide" Target="slides/slide4.xml"/><Relationship Id="rId54" Type="http://schemas.openxmlformats.org/officeDocument/2006/relationships/font" Target="fonts/WorkSansLight-regular.fntdata"/><Relationship Id="rId13" Type="http://schemas.openxmlformats.org/officeDocument/2006/relationships/slide" Target="slides/slide7.xml"/><Relationship Id="rId57" Type="http://schemas.openxmlformats.org/officeDocument/2006/relationships/font" Target="fonts/WorkSansLight-boldItalic.fntdata"/><Relationship Id="rId12" Type="http://schemas.openxmlformats.org/officeDocument/2006/relationships/slide" Target="slides/slide6.xml"/><Relationship Id="rId56" Type="http://schemas.openxmlformats.org/officeDocument/2006/relationships/font" Target="fonts/WorkSansLight-italic.fntdata"/><Relationship Id="rId15" Type="http://schemas.openxmlformats.org/officeDocument/2006/relationships/slide" Target="slides/slide9.xml"/><Relationship Id="rId59" Type="http://schemas.openxmlformats.org/officeDocument/2006/relationships/font" Target="fonts/Merriweather-bold.fntdata"/><Relationship Id="rId14" Type="http://schemas.openxmlformats.org/officeDocument/2006/relationships/slide" Target="slides/slide8.xml"/><Relationship Id="rId58" Type="http://schemas.openxmlformats.org/officeDocument/2006/relationships/font" Target="fonts/Merriweather-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970eea0f18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970eea0f18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970eea0f18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970eea0f18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70eea0f18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70eea0f18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970eea0f18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970eea0f18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970eea0f18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970eea0f18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970eea0f18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970eea0f18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970eea0f18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970eea0f18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970eea0f18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970eea0f18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970eea0f18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970eea0f18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970eea0f18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970eea0f18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970eea0f18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970eea0f18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970eea0f18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970eea0f18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970eea0f18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970eea0f18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970eea0f18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970eea0f18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970eea0f18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970eea0f18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970eea0f18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970eea0f18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970eea0f18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970eea0f18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970eea0f18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970eea0f18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970eea0f18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970eea0f18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970eea0f18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970eea0f18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970eea0f18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970eea0f18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970eea0f18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970eea0f18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970fe135b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970fe135b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970fe135b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970fe135b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970fe135b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970fe135b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970fe135b5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970fe135b5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970fe135b5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970fe135b5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970fe135b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970fe135b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970fe135b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970fe135b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970fe135b5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970fe135b5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29.png"/><Relationship Id="rId5" Type="http://schemas.openxmlformats.org/officeDocument/2006/relationships/image" Target="../media/image1.png"/><Relationship Id="rId6"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15.png"/><Relationship Id="rId10" Type="http://schemas.openxmlformats.org/officeDocument/2006/relationships/image" Target="../media/image32.png"/><Relationship Id="rId9" Type="http://schemas.openxmlformats.org/officeDocument/2006/relationships/image" Target="../media/image21.png"/><Relationship Id="rId5" Type="http://schemas.openxmlformats.org/officeDocument/2006/relationships/image" Target="../media/image30.png"/><Relationship Id="rId6" Type="http://schemas.openxmlformats.org/officeDocument/2006/relationships/image" Target="../media/image22.png"/><Relationship Id="rId7" Type="http://schemas.openxmlformats.org/officeDocument/2006/relationships/image" Target="../media/image28.png"/><Relationship Id="rId8"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p:nvPr/>
        </p:nvSpPr>
        <p:spPr>
          <a:xfrm>
            <a:off x="3490075" y="2571750"/>
            <a:ext cx="1796700" cy="135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5" name="Google Shape;135;p13"/>
          <p:cNvSpPr txBox="1"/>
          <p:nvPr>
            <p:ph type="ctrTitle"/>
          </p:nvPr>
        </p:nvSpPr>
        <p:spPr>
          <a:xfrm>
            <a:off x="3384475" y="1376825"/>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5000"/>
              <a:t>ALMASOFT </a:t>
            </a:r>
            <a:endParaRPr b="1" sz="5000"/>
          </a:p>
        </p:txBody>
      </p:sp>
      <p:pic>
        <p:nvPicPr>
          <p:cNvPr id="136" name="Google Shape;136;p13"/>
          <p:cNvPicPr preferRelativeResize="0"/>
          <p:nvPr/>
        </p:nvPicPr>
        <p:blipFill rotWithShape="1">
          <a:blip r:embed="rId3">
            <a:alphaModFix/>
          </a:blip>
          <a:srcRect b="0" l="0" r="0" t="0"/>
          <a:stretch/>
        </p:blipFill>
        <p:spPr>
          <a:xfrm>
            <a:off x="3783637" y="2645712"/>
            <a:ext cx="1209575" cy="1209575"/>
          </a:xfrm>
          <a:prstGeom prst="rect">
            <a:avLst/>
          </a:prstGeom>
          <a:noFill/>
          <a:ln>
            <a:noFill/>
          </a:ln>
        </p:spPr>
      </p:pic>
      <p:sp>
        <p:nvSpPr>
          <p:cNvPr id="137" name="Google Shape;137;p13"/>
          <p:cNvSpPr/>
          <p:nvPr/>
        </p:nvSpPr>
        <p:spPr>
          <a:xfrm>
            <a:off x="5415700" y="2571750"/>
            <a:ext cx="1796700" cy="135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8" name="Google Shape;138;p13"/>
          <p:cNvPicPr preferRelativeResize="0"/>
          <p:nvPr/>
        </p:nvPicPr>
        <p:blipFill>
          <a:blip r:embed="rId4">
            <a:alphaModFix/>
          </a:blip>
          <a:stretch>
            <a:fillRect/>
          </a:stretch>
        </p:blipFill>
        <p:spPr>
          <a:xfrm>
            <a:off x="5685600" y="2622050"/>
            <a:ext cx="1256901" cy="12569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4"/>
          <p:cNvSpPr txBox="1"/>
          <p:nvPr>
            <p:ph idx="1" type="body"/>
          </p:nvPr>
        </p:nvSpPr>
        <p:spPr>
          <a:xfrm>
            <a:off x="1121350" y="1802425"/>
            <a:ext cx="7038900" cy="29112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s" sz="1800">
                <a:latin typeface="Work Sans Light"/>
                <a:ea typeface="Work Sans Light"/>
                <a:cs typeface="Work Sans Light"/>
                <a:sym typeface="Work Sans Light"/>
              </a:rPr>
              <a:t>Danny Karine Camacho Romero</a:t>
            </a:r>
            <a:endParaRPr sz="1800">
              <a:latin typeface="Work Sans Light"/>
              <a:ea typeface="Work Sans Light"/>
              <a:cs typeface="Work Sans Light"/>
              <a:sym typeface="Work Sans Light"/>
            </a:endParaRPr>
          </a:p>
          <a:p>
            <a:pPr indent="0" lvl="0" marL="0" rtl="0" algn="l">
              <a:lnSpc>
                <a:spcPct val="100000"/>
              </a:lnSpc>
              <a:spcBef>
                <a:spcPts val="0"/>
              </a:spcBef>
              <a:spcAft>
                <a:spcPts val="0"/>
              </a:spcAft>
              <a:buClr>
                <a:srgbClr val="000000"/>
              </a:buClr>
              <a:buSzPts val="1800"/>
              <a:buFont typeface="Arial"/>
              <a:buNone/>
            </a:pPr>
            <a:r>
              <a:t/>
            </a:r>
            <a:endParaRPr sz="1800">
              <a:latin typeface="Work Sans Light"/>
              <a:ea typeface="Work Sans Light"/>
              <a:cs typeface="Work Sans Light"/>
              <a:sym typeface="Work Sans Light"/>
            </a:endParaRPr>
          </a:p>
          <a:p>
            <a:pPr indent="0" lvl="0" marL="0" rtl="0" algn="l">
              <a:lnSpc>
                <a:spcPct val="100000"/>
              </a:lnSpc>
              <a:spcBef>
                <a:spcPts val="0"/>
              </a:spcBef>
              <a:spcAft>
                <a:spcPts val="0"/>
              </a:spcAft>
              <a:buNone/>
            </a:pPr>
            <a:r>
              <a:rPr lang="es" sz="1800">
                <a:latin typeface="Work Sans Light"/>
                <a:ea typeface="Work Sans Light"/>
                <a:cs typeface="Work Sans Light"/>
                <a:sym typeface="Work Sans Light"/>
              </a:rPr>
              <a:t>Gisel Estefania Torres Corredor</a:t>
            </a:r>
            <a:endParaRPr sz="1800">
              <a:latin typeface="Work Sans Light"/>
              <a:ea typeface="Work Sans Light"/>
              <a:cs typeface="Work Sans Light"/>
              <a:sym typeface="Work Sans Light"/>
            </a:endParaRPr>
          </a:p>
          <a:p>
            <a:pPr indent="0" lvl="0" marL="0" rtl="0" algn="l">
              <a:lnSpc>
                <a:spcPct val="100000"/>
              </a:lnSpc>
              <a:spcBef>
                <a:spcPts val="0"/>
              </a:spcBef>
              <a:spcAft>
                <a:spcPts val="0"/>
              </a:spcAft>
              <a:buClr>
                <a:srgbClr val="000000"/>
              </a:buClr>
              <a:buSzPts val="1800"/>
              <a:buFont typeface="Arial"/>
              <a:buNone/>
            </a:pPr>
            <a:r>
              <a:t/>
            </a:r>
            <a:endParaRPr sz="1800">
              <a:latin typeface="Work Sans Light"/>
              <a:ea typeface="Work Sans Light"/>
              <a:cs typeface="Work Sans Light"/>
              <a:sym typeface="Work Sans Light"/>
            </a:endParaRPr>
          </a:p>
          <a:p>
            <a:pPr indent="0" lvl="0" marL="0" rtl="0" algn="l">
              <a:lnSpc>
                <a:spcPct val="100000"/>
              </a:lnSpc>
              <a:spcBef>
                <a:spcPts val="0"/>
              </a:spcBef>
              <a:spcAft>
                <a:spcPts val="0"/>
              </a:spcAft>
              <a:buNone/>
            </a:pPr>
            <a:r>
              <a:rPr lang="es" sz="1800">
                <a:latin typeface="Work Sans Light"/>
                <a:ea typeface="Work Sans Light"/>
                <a:cs typeface="Work Sans Light"/>
                <a:sym typeface="Work Sans Light"/>
              </a:rPr>
              <a:t>Michael Ferney Fonseca Mendoza </a:t>
            </a:r>
            <a:endParaRPr sz="1800">
              <a:latin typeface="Work Sans Light"/>
              <a:ea typeface="Work Sans Light"/>
              <a:cs typeface="Work Sans Light"/>
              <a:sym typeface="Work Sans Light"/>
            </a:endParaRPr>
          </a:p>
          <a:p>
            <a:pPr indent="0" lvl="0" marL="0" rtl="0" algn="l">
              <a:lnSpc>
                <a:spcPct val="100000"/>
              </a:lnSpc>
              <a:spcBef>
                <a:spcPts val="0"/>
              </a:spcBef>
              <a:spcAft>
                <a:spcPts val="0"/>
              </a:spcAft>
              <a:buClr>
                <a:srgbClr val="000000"/>
              </a:buClr>
              <a:buSzPts val="1800"/>
              <a:buFont typeface="Arial"/>
              <a:buNone/>
            </a:pPr>
            <a:r>
              <a:t/>
            </a:r>
            <a:endParaRPr sz="1800">
              <a:latin typeface="Work Sans Light"/>
              <a:ea typeface="Work Sans Light"/>
              <a:cs typeface="Work Sans Light"/>
              <a:sym typeface="Work Sans Light"/>
            </a:endParaRPr>
          </a:p>
          <a:p>
            <a:pPr indent="0" lvl="0" marL="0" rtl="0" algn="l">
              <a:lnSpc>
                <a:spcPct val="100000"/>
              </a:lnSpc>
              <a:spcBef>
                <a:spcPts val="0"/>
              </a:spcBef>
              <a:spcAft>
                <a:spcPts val="0"/>
              </a:spcAft>
              <a:buClr>
                <a:srgbClr val="000000"/>
              </a:buClr>
              <a:buSzPts val="1800"/>
              <a:buFont typeface="Arial"/>
              <a:buNone/>
            </a:pPr>
            <a:r>
              <a:rPr lang="es" sz="1800">
                <a:latin typeface="Work Sans Light"/>
                <a:ea typeface="Work Sans Light"/>
                <a:cs typeface="Work Sans Light"/>
                <a:sym typeface="Work Sans Light"/>
              </a:rPr>
              <a:t>Franklin Sthep casasbuenas B </a:t>
            </a:r>
            <a:endParaRPr/>
          </a:p>
        </p:txBody>
      </p:sp>
      <p:sp>
        <p:nvSpPr>
          <p:cNvPr id="144" name="Google Shape;144;p14"/>
          <p:cNvSpPr txBox="1"/>
          <p:nvPr>
            <p:ph idx="4294967295" type="ctrTitle"/>
          </p:nvPr>
        </p:nvSpPr>
        <p:spPr>
          <a:xfrm>
            <a:off x="1329425" y="754450"/>
            <a:ext cx="5017500" cy="835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4000"/>
              <a:t>ALMASOFT </a:t>
            </a:r>
            <a:endParaRPr b="1" sz="4000"/>
          </a:p>
        </p:txBody>
      </p:sp>
      <p:sp>
        <p:nvSpPr>
          <p:cNvPr id="145" name="Google Shape;145;p14"/>
          <p:cNvSpPr/>
          <p:nvPr/>
        </p:nvSpPr>
        <p:spPr>
          <a:xfrm>
            <a:off x="5134125" y="1280550"/>
            <a:ext cx="3381900" cy="291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46" name="Google Shape;146;p14"/>
          <p:cNvPicPr preferRelativeResize="0"/>
          <p:nvPr/>
        </p:nvPicPr>
        <p:blipFill rotWithShape="1">
          <a:blip r:embed="rId3">
            <a:alphaModFix/>
          </a:blip>
          <a:srcRect b="0" l="0" r="0" t="0"/>
          <a:stretch/>
        </p:blipFill>
        <p:spPr>
          <a:xfrm>
            <a:off x="5574401" y="1462003"/>
            <a:ext cx="2501350" cy="2501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5"/>
          <p:cNvSpPr txBox="1"/>
          <p:nvPr>
            <p:ph type="title"/>
          </p:nvPr>
        </p:nvSpPr>
        <p:spPr>
          <a:xfrm>
            <a:off x="1297500" y="393750"/>
            <a:ext cx="55863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Introducción</a:t>
            </a:r>
            <a:r>
              <a:rPr b="1" lang="es"/>
              <a:t> </a:t>
            </a:r>
            <a:endParaRPr b="1"/>
          </a:p>
        </p:txBody>
      </p:sp>
      <p:sp>
        <p:nvSpPr>
          <p:cNvPr id="152" name="Google Shape;152;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lang="es">
                <a:latin typeface="Montserrat"/>
                <a:ea typeface="Montserrat"/>
                <a:cs typeface="Montserrat"/>
                <a:sym typeface="Montserrat"/>
              </a:rPr>
              <a:t>AlmaSOFT es un sistema web diseñado para mejorar la gestión administrativa de la Funeraria Capilla Celestial. Este sistema facilita procesos como las afiliaciones, la gestión de horarios, el control financiero y la administración de los servicios fúnebres.</a:t>
            </a:r>
            <a:endParaRPr>
              <a:latin typeface="Montserrat"/>
              <a:ea typeface="Montserrat"/>
              <a:cs typeface="Montserrat"/>
              <a:sym typeface="Montserrat"/>
            </a:endParaRPr>
          </a:p>
          <a:p>
            <a:pPr indent="0" lvl="0" marL="0" rtl="0" algn="l">
              <a:spcBef>
                <a:spcPts val="1200"/>
              </a:spcBef>
              <a:spcAft>
                <a:spcPts val="0"/>
              </a:spcAft>
              <a:buNone/>
            </a:pPr>
            <a:r>
              <a:rPr b="1" lang="es">
                <a:latin typeface="Montserrat"/>
                <a:ea typeface="Montserrat"/>
                <a:cs typeface="Montserrat"/>
                <a:sym typeface="Montserrat"/>
              </a:rPr>
              <a:t>Objetivo:</a:t>
            </a:r>
            <a:br>
              <a:rPr b="1" lang="es">
                <a:latin typeface="Montserrat"/>
                <a:ea typeface="Montserrat"/>
                <a:cs typeface="Montserrat"/>
                <a:sym typeface="Montserrat"/>
              </a:rPr>
            </a:br>
            <a:r>
              <a:rPr lang="es">
                <a:latin typeface="Montserrat"/>
                <a:ea typeface="Montserrat"/>
                <a:cs typeface="Montserrat"/>
                <a:sym typeface="Montserrat"/>
              </a:rPr>
              <a:t> Optimizar la operación interna de la funeraria mediante el uso de herramientas digitales eficientes que permitan una mejor organización y control de los procesos.</a:t>
            </a:r>
            <a:endParaRPr>
              <a:latin typeface="Montserrat"/>
              <a:ea typeface="Montserrat"/>
              <a:cs typeface="Montserrat"/>
              <a:sym typeface="Montserrat"/>
            </a:endParaRPr>
          </a:p>
          <a:p>
            <a:pPr indent="0" lvl="0" marL="0" rtl="0" algn="l">
              <a:spcBef>
                <a:spcPts val="1200"/>
              </a:spcBef>
              <a:spcAft>
                <a:spcPts val="0"/>
              </a:spcAft>
              <a:buNone/>
            </a:pPr>
            <a:r>
              <a:rPr b="1" lang="es">
                <a:latin typeface="Montserrat"/>
                <a:ea typeface="Montserrat"/>
                <a:cs typeface="Montserrat"/>
                <a:sym typeface="Montserrat"/>
              </a:rPr>
              <a:t>Alcance:</a:t>
            </a:r>
            <a:br>
              <a:rPr b="1" lang="es">
                <a:latin typeface="Montserrat"/>
                <a:ea typeface="Montserrat"/>
                <a:cs typeface="Montserrat"/>
                <a:sym typeface="Montserrat"/>
              </a:rPr>
            </a:br>
            <a:r>
              <a:rPr lang="es">
                <a:latin typeface="Montserrat"/>
                <a:ea typeface="Montserrat"/>
                <a:cs typeface="Montserrat"/>
                <a:sym typeface="Montserrat"/>
              </a:rPr>
              <a:t> El sistema incluye la gestión de usuarios, afiliaciones, contratos, horarios, cronogramas y la generación de reportes, contribuyendo a una administración más ordenada y efectiva.</a:t>
            </a:r>
            <a:endParaRPr>
              <a:latin typeface="Montserrat"/>
              <a:ea typeface="Montserrat"/>
              <a:cs typeface="Montserrat"/>
              <a:sym typeface="Montserrat"/>
            </a:endParaRPr>
          </a:p>
          <a:p>
            <a:pPr indent="0" lvl="0" marL="0" rtl="0" algn="l">
              <a:spcBef>
                <a:spcPts val="1200"/>
              </a:spcBef>
              <a:spcAft>
                <a:spcPts val="1200"/>
              </a:spcAft>
              <a:buNone/>
            </a:pPr>
            <a:r>
              <a:t/>
            </a:r>
            <a:endParaRPr/>
          </a:p>
        </p:txBody>
      </p:sp>
      <p:sp>
        <p:nvSpPr>
          <p:cNvPr id="153" name="Google Shape;153;p15"/>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154" name="Google Shape;154;p15"/>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Índice</a:t>
            </a:r>
            <a:r>
              <a:rPr b="1" lang="es"/>
              <a:t> </a:t>
            </a:r>
            <a:endParaRPr b="1"/>
          </a:p>
        </p:txBody>
      </p:sp>
      <p:sp>
        <p:nvSpPr>
          <p:cNvPr id="160" name="Google Shape;160;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lnSpc>
                <a:spcPct val="100000"/>
              </a:lnSpc>
              <a:spcBef>
                <a:spcPts val="0"/>
              </a:spcBef>
              <a:spcAft>
                <a:spcPts val="0"/>
              </a:spcAft>
              <a:buClr>
                <a:schemeClr val="lt1"/>
              </a:buClr>
              <a:buSzPts val="1300"/>
              <a:buFont typeface="Montserrat"/>
              <a:buChar char="●"/>
            </a:pPr>
            <a:r>
              <a:rPr lang="es">
                <a:latin typeface="Montserrat"/>
                <a:ea typeface="Montserrat"/>
                <a:cs typeface="Montserrat"/>
                <a:sym typeface="Montserrat"/>
              </a:rPr>
              <a:t>Problema</a:t>
            </a:r>
            <a:endParaRPr>
              <a:latin typeface="Montserrat"/>
              <a:ea typeface="Montserrat"/>
              <a:cs typeface="Montserrat"/>
              <a:sym typeface="Montserrat"/>
            </a:endParaRPr>
          </a:p>
          <a:p>
            <a:pPr indent="0" lvl="0" marL="457200" rtl="0" algn="l">
              <a:lnSpc>
                <a:spcPct val="100000"/>
              </a:lnSpc>
              <a:spcBef>
                <a:spcPts val="0"/>
              </a:spcBef>
              <a:spcAft>
                <a:spcPts val="0"/>
              </a:spcAft>
              <a:buNone/>
            </a:pPr>
            <a:r>
              <a:t/>
            </a:r>
            <a:endParaRPr>
              <a:latin typeface="Montserrat"/>
              <a:ea typeface="Montserrat"/>
              <a:cs typeface="Montserrat"/>
              <a:sym typeface="Montserrat"/>
            </a:endParaRPr>
          </a:p>
          <a:p>
            <a:pPr indent="-311150" lvl="0" marL="457200" rtl="0" algn="l">
              <a:lnSpc>
                <a:spcPct val="100000"/>
              </a:lnSpc>
              <a:spcBef>
                <a:spcPts val="0"/>
              </a:spcBef>
              <a:spcAft>
                <a:spcPts val="0"/>
              </a:spcAft>
              <a:buClr>
                <a:schemeClr val="lt1"/>
              </a:buClr>
              <a:buSzPts val="1300"/>
              <a:buFont typeface="Montserrat"/>
              <a:buChar char="●"/>
            </a:pPr>
            <a:r>
              <a:rPr lang="es">
                <a:latin typeface="Montserrat"/>
                <a:ea typeface="Montserrat"/>
                <a:cs typeface="Montserrat"/>
                <a:sym typeface="Montserrat"/>
              </a:rPr>
              <a:t>Objetivos</a:t>
            </a:r>
            <a:endParaRPr>
              <a:latin typeface="Montserrat"/>
              <a:ea typeface="Montserrat"/>
              <a:cs typeface="Montserrat"/>
              <a:sym typeface="Montserrat"/>
            </a:endParaRPr>
          </a:p>
          <a:p>
            <a:pPr indent="0" lvl="0" marL="457200" rtl="0" algn="l">
              <a:lnSpc>
                <a:spcPct val="100000"/>
              </a:lnSpc>
              <a:spcBef>
                <a:spcPts val="0"/>
              </a:spcBef>
              <a:spcAft>
                <a:spcPts val="0"/>
              </a:spcAft>
              <a:buNone/>
            </a:pPr>
            <a:r>
              <a:t/>
            </a:r>
            <a:endParaRPr>
              <a:latin typeface="Montserrat"/>
              <a:ea typeface="Montserrat"/>
              <a:cs typeface="Montserrat"/>
              <a:sym typeface="Montserrat"/>
            </a:endParaRPr>
          </a:p>
          <a:p>
            <a:pPr indent="-311150" lvl="0" marL="457200" rtl="0" algn="l">
              <a:lnSpc>
                <a:spcPct val="100000"/>
              </a:lnSpc>
              <a:spcBef>
                <a:spcPts val="0"/>
              </a:spcBef>
              <a:spcAft>
                <a:spcPts val="0"/>
              </a:spcAft>
              <a:buClr>
                <a:schemeClr val="lt1"/>
              </a:buClr>
              <a:buSzPts val="1300"/>
              <a:buFont typeface="Montserrat"/>
              <a:buChar char="●"/>
            </a:pPr>
            <a:r>
              <a:rPr lang="es">
                <a:latin typeface="Montserrat"/>
                <a:ea typeface="Montserrat"/>
                <a:cs typeface="Montserrat"/>
                <a:sym typeface="Montserrat"/>
              </a:rPr>
              <a:t>Justificación</a:t>
            </a:r>
            <a:endParaRPr>
              <a:latin typeface="Montserrat"/>
              <a:ea typeface="Montserrat"/>
              <a:cs typeface="Montserrat"/>
              <a:sym typeface="Montserrat"/>
            </a:endParaRPr>
          </a:p>
          <a:p>
            <a:pPr indent="0" lvl="0" marL="457200" rtl="0" algn="l">
              <a:lnSpc>
                <a:spcPct val="100000"/>
              </a:lnSpc>
              <a:spcBef>
                <a:spcPts val="0"/>
              </a:spcBef>
              <a:spcAft>
                <a:spcPts val="0"/>
              </a:spcAft>
              <a:buNone/>
            </a:pPr>
            <a:r>
              <a:t/>
            </a:r>
            <a:endParaRPr>
              <a:latin typeface="Montserrat"/>
              <a:ea typeface="Montserrat"/>
              <a:cs typeface="Montserrat"/>
              <a:sym typeface="Montserrat"/>
            </a:endParaRPr>
          </a:p>
          <a:p>
            <a:pPr indent="-311150" lvl="0" marL="457200" rtl="0" algn="l">
              <a:lnSpc>
                <a:spcPct val="100000"/>
              </a:lnSpc>
              <a:spcBef>
                <a:spcPts val="0"/>
              </a:spcBef>
              <a:spcAft>
                <a:spcPts val="0"/>
              </a:spcAft>
              <a:buClr>
                <a:schemeClr val="lt1"/>
              </a:buClr>
              <a:buSzPts val="1300"/>
              <a:buFont typeface="Montserrat"/>
              <a:buChar char="●"/>
            </a:pPr>
            <a:r>
              <a:rPr lang="es">
                <a:latin typeface="Montserrat"/>
                <a:ea typeface="Montserrat"/>
                <a:cs typeface="Montserrat"/>
                <a:sym typeface="Montserrat"/>
              </a:rPr>
              <a:t>Alcance</a:t>
            </a:r>
            <a:endParaRPr>
              <a:latin typeface="Montserrat"/>
              <a:ea typeface="Montserrat"/>
              <a:cs typeface="Montserrat"/>
              <a:sym typeface="Montserrat"/>
            </a:endParaRPr>
          </a:p>
          <a:p>
            <a:pPr indent="0" lvl="0" marL="457200" rtl="0" algn="l">
              <a:lnSpc>
                <a:spcPct val="100000"/>
              </a:lnSpc>
              <a:spcBef>
                <a:spcPts val="0"/>
              </a:spcBef>
              <a:spcAft>
                <a:spcPts val="0"/>
              </a:spcAft>
              <a:buNone/>
            </a:pPr>
            <a:r>
              <a:t/>
            </a:r>
            <a:endParaRPr>
              <a:latin typeface="Montserrat"/>
              <a:ea typeface="Montserrat"/>
              <a:cs typeface="Montserrat"/>
              <a:sym typeface="Montserrat"/>
            </a:endParaRPr>
          </a:p>
          <a:p>
            <a:pPr indent="-311150" lvl="0" marL="457200" rtl="0" algn="l">
              <a:lnSpc>
                <a:spcPct val="100000"/>
              </a:lnSpc>
              <a:spcBef>
                <a:spcPts val="0"/>
              </a:spcBef>
              <a:spcAft>
                <a:spcPts val="0"/>
              </a:spcAft>
              <a:buClr>
                <a:schemeClr val="lt1"/>
              </a:buClr>
              <a:buSzPts val="1300"/>
              <a:buFont typeface="Montserrat"/>
              <a:buChar char="●"/>
            </a:pPr>
            <a:r>
              <a:rPr lang="es">
                <a:latin typeface="Montserrat"/>
                <a:ea typeface="Montserrat"/>
                <a:cs typeface="Montserrat"/>
                <a:sym typeface="Montserrat"/>
              </a:rPr>
              <a:t>Delimitación</a:t>
            </a:r>
            <a:endParaRPr>
              <a:latin typeface="Montserrat"/>
              <a:ea typeface="Montserrat"/>
              <a:cs typeface="Montserrat"/>
              <a:sym typeface="Montserrat"/>
            </a:endParaRPr>
          </a:p>
          <a:p>
            <a:pPr indent="0" lvl="0" marL="0" rtl="0" algn="l">
              <a:spcBef>
                <a:spcPts val="0"/>
              </a:spcBef>
              <a:spcAft>
                <a:spcPts val="1200"/>
              </a:spcAft>
              <a:buNone/>
            </a:pPr>
            <a:r>
              <a:t/>
            </a:r>
            <a:endParaRPr/>
          </a:p>
        </p:txBody>
      </p:sp>
      <p:sp>
        <p:nvSpPr>
          <p:cNvPr id="161" name="Google Shape;161;p16"/>
          <p:cNvSpPr/>
          <p:nvPr/>
        </p:nvSpPr>
        <p:spPr>
          <a:xfrm>
            <a:off x="3525300" y="1567550"/>
            <a:ext cx="2533800" cy="1914600"/>
          </a:xfrm>
          <a:prstGeom prst="rect">
            <a:avLst/>
          </a:prstGeom>
          <a:solidFill>
            <a:schemeClr val="lt2"/>
          </a:solidFill>
          <a:ln cap="flat" cmpd="sng" w="13425">
            <a:solidFill>
              <a:schemeClr val="dk2"/>
            </a:solidFill>
            <a:prstDash val="solid"/>
            <a:round/>
            <a:headEnd len="sm" w="sm" type="none"/>
            <a:tailEnd len="sm" w="sm" type="none"/>
          </a:ln>
        </p:spPr>
        <p:txBody>
          <a:bodyPr anchorCtr="0" anchor="ctr" bIns="128925" lIns="128925" spcFirstLastPara="1" rIns="128925" wrap="square" tIns="128925">
            <a:noAutofit/>
          </a:bodyPr>
          <a:lstStyle/>
          <a:p>
            <a:pPr indent="0" lvl="0" marL="0" rtl="0" algn="ctr">
              <a:spcBef>
                <a:spcPts val="0"/>
              </a:spcBef>
              <a:spcAft>
                <a:spcPts val="0"/>
              </a:spcAft>
              <a:buNone/>
            </a:pPr>
            <a:r>
              <a:t/>
            </a:r>
            <a:endParaRPr sz="1974">
              <a:latin typeface="Lato"/>
              <a:ea typeface="Lato"/>
              <a:cs typeface="Lato"/>
              <a:sym typeface="Lato"/>
            </a:endParaRPr>
          </a:p>
        </p:txBody>
      </p:sp>
      <p:pic>
        <p:nvPicPr>
          <p:cNvPr id="162" name="Google Shape;162;p16"/>
          <p:cNvPicPr preferRelativeResize="0"/>
          <p:nvPr/>
        </p:nvPicPr>
        <p:blipFill rotWithShape="1">
          <a:blip r:embed="rId3">
            <a:alphaModFix/>
          </a:blip>
          <a:srcRect b="0" l="0" r="0" t="0"/>
          <a:stretch/>
        </p:blipFill>
        <p:spPr>
          <a:xfrm>
            <a:off x="3939309" y="1671859"/>
            <a:ext cx="1705857" cy="1705858"/>
          </a:xfrm>
          <a:prstGeom prst="rect">
            <a:avLst/>
          </a:prstGeom>
          <a:noFill/>
          <a:ln>
            <a:noFill/>
          </a:ln>
        </p:spPr>
      </p:pic>
      <p:sp>
        <p:nvSpPr>
          <p:cNvPr id="163" name="Google Shape;163;p16"/>
          <p:cNvSpPr/>
          <p:nvPr/>
        </p:nvSpPr>
        <p:spPr>
          <a:xfrm>
            <a:off x="6240999" y="1567550"/>
            <a:ext cx="2533800" cy="1914600"/>
          </a:xfrm>
          <a:prstGeom prst="rect">
            <a:avLst/>
          </a:prstGeom>
          <a:solidFill>
            <a:schemeClr val="lt2"/>
          </a:solidFill>
          <a:ln cap="flat" cmpd="sng" w="13425">
            <a:solidFill>
              <a:schemeClr val="dk2"/>
            </a:solidFill>
            <a:prstDash val="solid"/>
            <a:round/>
            <a:headEnd len="sm" w="sm" type="none"/>
            <a:tailEnd len="sm" w="sm" type="none"/>
          </a:ln>
        </p:spPr>
        <p:txBody>
          <a:bodyPr anchorCtr="0" anchor="ctr" bIns="128925" lIns="128925" spcFirstLastPara="1" rIns="128925" wrap="square" tIns="128925">
            <a:noAutofit/>
          </a:bodyPr>
          <a:lstStyle/>
          <a:p>
            <a:pPr indent="0" lvl="0" marL="0" rtl="0" algn="l">
              <a:spcBef>
                <a:spcPts val="0"/>
              </a:spcBef>
              <a:spcAft>
                <a:spcPts val="0"/>
              </a:spcAft>
              <a:buNone/>
            </a:pPr>
            <a:r>
              <a:t/>
            </a:r>
            <a:endParaRPr sz="1974"/>
          </a:p>
        </p:txBody>
      </p:sp>
      <p:pic>
        <p:nvPicPr>
          <p:cNvPr id="164" name="Google Shape;164;p16"/>
          <p:cNvPicPr preferRelativeResize="0"/>
          <p:nvPr/>
        </p:nvPicPr>
        <p:blipFill>
          <a:blip r:embed="rId4">
            <a:alphaModFix/>
          </a:blip>
          <a:stretch>
            <a:fillRect/>
          </a:stretch>
        </p:blipFill>
        <p:spPr>
          <a:xfrm>
            <a:off x="6621638" y="1638488"/>
            <a:ext cx="1772600" cy="1772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Formulación</a:t>
            </a:r>
            <a:r>
              <a:rPr b="1" lang="es"/>
              <a:t> del proyecto</a:t>
            </a:r>
            <a:endParaRPr b="1"/>
          </a:p>
        </p:txBody>
      </p:sp>
      <p:sp>
        <p:nvSpPr>
          <p:cNvPr id="170" name="Google Shape;170;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rgbClr val="000000"/>
              </a:buClr>
              <a:buSzPts val="3600"/>
              <a:buFont typeface="Arial"/>
              <a:buNone/>
            </a:pPr>
            <a:r>
              <a:rPr b="1" lang="es" sz="1800">
                <a:solidFill>
                  <a:srgbClr val="D9D9D9"/>
                </a:solidFill>
                <a:latin typeface="Arial"/>
                <a:ea typeface="Arial"/>
                <a:cs typeface="Arial"/>
                <a:sym typeface="Arial"/>
              </a:rPr>
              <a:t>SOFTWARE ADMINISTRATIVO PARA FUNERARIAS (AlmaSoft)</a:t>
            </a:r>
            <a:endParaRPr>
              <a:solidFill>
                <a:srgbClr val="D9D9D9"/>
              </a:solidFill>
              <a:latin typeface="Montserrat"/>
              <a:ea typeface="Montserrat"/>
              <a:cs typeface="Montserrat"/>
              <a:sym typeface="Montserrat"/>
            </a:endParaRPr>
          </a:p>
          <a:p>
            <a:pPr indent="0" lvl="0" marL="0" rtl="0" algn="l">
              <a:spcBef>
                <a:spcPts val="1200"/>
              </a:spcBef>
              <a:spcAft>
                <a:spcPts val="0"/>
              </a:spcAft>
              <a:buNone/>
            </a:pPr>
            <a:r>
              <a:rPr lang="es">
                <a:latin typeface="Montserrat"/>
                <a:ea typeface="Montserrat"/>
                <a:cs typeface="Montserrat"/>
                <a:sym typeface="Montserrat"/>
              </a:rPr>
              <a:t>Plataforma tecnológica diseñada para optimizar la gestión de clientes, inventarios, productos, planes y servicios ofrecidos por la funeraria. Cuenta con una interfaz intuitiva y fácil de usar, que permite a los clientes acceder a los servicios de manera personalizada, eligiendo y adaptando las opciones según sus necesidades.</a:t>
            </a:r>
            <a:endParaRPr>
              <a:latin typeface="Montserrat"/>
              <a:ea typeface="Montserrat"/>
              <a:cs typeface="Montserrat"/>
              <a:sym typeface="Montserrat"/>
            </a:endParaRPr>
          </a:p>
          <a:p>
            <a:pPr indent="0" lvl="0" marL="0" rtl="0" algn="l">
              <a:spcBef>
                <a:spcPts val="1200"/>
              </a:spcBef>
              <a:spcAft>
                <a:spcPts val="0"/>
              </a:spcAft>
              <a:buNone/>
            </a:pPr>
            <a:r>
              <a:rPr lang="es">
                <a:latin typeface="Montserrat"/>
                <a:ea typeface="Montserrat"/>
                <a:cs typeface="Montserrat"/>
                <a:sym typeface="Montserrat"/>
              </a:rPr>
              <a:t>Asimismo, facilita la administración integral de todos los aspectos relacionados con la operación del negocio, mejorando la eficiencia de los procesos y la experiencia tanto para la empresa como para los usuarios.</a:t>
            </a:r>
            <a:endParaRPr>
              <a:latin typeface="Montserrat"/>
              <a:ea typeface="Montserrat"/>
              <a:cs typeface="Montserrat"/>
              <a:sym typeface="Montserrat"/>
            </a:endParaRPr>
          </a:p>
          <a:p>
            <a:pPr indent="0" lvl="0" marL="0" rtl="0" algn="l">
              <a:spcBef>
                <a:spcPts val="1200"/>
              </a:spcBef>
              <a:spcAft>
                <a:spcPts val="1200"/>
              </a:spcAft>
              <a:buNone/>
            </a:pPr>
            <a:r>
              <a:t/>
            </a:r>
            <a:endParaRPr/>
          </a:p>
        </p:txBody>
      </p:sp>
      <p:sp>
        <p:nvSpPr>
          <p:cNvPr id="171" name="Google Shape;171;p17"/>
          <p:cNvSpPr/>
          <p:nvPr/>
        </p:nvSpPr>
        <p:spPr>
          <a:xfrm>
            <a:off x="7142152" y="34677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172" name="Google Shape;172;p17"/>
          <p:cNvPicPr preferRelativeResize="0"/>
          <p:nvPr/>
        </p:nvPicPr>
        <p:blipFill rotWithShape="1">
          <a:blip r:embed="rId3">
            <a:alphaModFix/>
          </a:blip>
          <a:srcRect b="0" l="0" r="0" t="0"/>
          <a:stretch/>
        </p:blipFill>
        <p:spPr>
          <a:xfrm>
            <a:off x="7299575" y="386438"/>
            <a:ext cx="648634" cy="64863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Planteamiento del problema</a:t>
            </a:r>
            <a:endParaRPr b="1"/>
          </a:p>
        </p:txBody>
      </p:sp>
      <p:sp>
        <p:nvSpPr>
          <p:cNvPr id="178" name="Google Shape;178;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25000" lnSpcReduction="10000"/>
          </a:bodyPr>
          <a:lstStyle/>
          <a:p>
            <a:pPr indent="0" lvl="0" marL="0" rtl="0" algn="l">
              <a:spcBef>
                <a:spcPts val="1200"/>
              </a:spcBef>
              <a:spcAft>
                <a:spcPts val="0"/>
              </a:spcAft>
              <a:buNone/>
            </a:pPr>
            <a:r>
              <a:rPr lang="es" sz="4800">
                <a:latin typeface="Montserrat"/>
                <a:ea typeface="Montserrat"/>
                <a:cs typeface="Montserrat"/>
                <a:sym typeface="Montserrat"/>
              </a:rPr>
              <a:t>La funeraria Capilla Celestial cuenta con tres sedes, una de ellas ubicada en Santa Rosalía, Vichada. La empresa ofrece servicios como traslado y preparación del cuerpo, misa, velación, arreglo floral, cafetería, destino final, bóveda y exhumación.</a:t>
            </a:r>
            <a:endParaRPr sz="4800">
              <a:latin typeface="Montserrat"/>
              <a:ea typeface="Montserrat"/>
              <a:cs typeface="Montserrat"/>
              <a:sym typeface="Montserrat"/>
            </a:endParaRPr>
          </a:p>
          <a:p>
            <a:pPr indent="0" lvl="0" marL="0" rtl="0" algn="l">
              <a:spcBef>
                <a:spcPts val="1200"/>
              </a:spcBef>
              <a:spcAft>
                <a:spcPts val="0"/>
              </a:spcAft>
              <a:buNone/>
            </a:pPr>
            <a:r>
              <a:rPr lang="es" sz="4800">
                <a:latin typeface="Montserrat"/>
                <a:ea typeface="Montserrat"/>
                <a:cs typeface="Montserrat"/>
                <a:sym typeface="Montserrat"/>
              </a:rPr>
              <a:t>A pesar de tener procesos establecidos, recientemente enfrentó una situación crítica. Un fallecido en Bogotá debía ser trasladado a Santa Rosalía; sin embargo, el acceso difícil a la vereda retrasó la recolección del cuerpo. Durante este tiempo, la familia no logró comunicarse con la funeraria, generando un retraso de aproximadamente once horas.</a:t>
            </a:r>
            <a:endParaRPr sz="4800">
              <a:latin typeface="Montserrat"/>
              <a:ea typeface="Montserrat"/>
              <a:cs typeface="Montserrat"/>
              <a:sym typeface="Montserrat"/>
            </a:endParaRPr>
          </a:p>
          <a:p>
            <a:pPr indent="0" lvl="0" marL="0" rtl="0" algn="l">
              <a:spcBef>
                <a:spcPts val="1200"/>
              </a:spcBef>
              <a:spcAft>
                <a:spcPts val="0"/>
              </a:spcAft>
              <a:buNone/>
            </a:pPr>
            <a:r>
              <a:rPr lang="es" sz="4800">
                <a:latin typeface="Montserrat"/>
                <a:ea typeface="Montserrat"/>
                <a:cs typeface="Montserrat"/>
                <a:sym typeface="Montserrat"/>
              </a:rPr>
              <a:t>Al llegar el personal, la familia manifestó su inconformidad por la demora. Además, ese mismo día se presentó otro fallecimiento, lo que generó confusión entre los asesores al atender ambos casos simultáneamente. Esta situación afectó la eficiencia del servicio y perjudicó la imagen de la empresa.</a:t>
            </a:r>
            <a:endParaRPr sz="4800">
              <a:latin typeface="Montserrat"/>
              <a:ea typeface="Montserrat"/>
              <a:cs typeface="Montserrat"/>
              <a:sym typeface="Montserrat"/>
            </a:endParaRPr>
          </a:p>
          <a:p>
            <a:pPr indent="0" lvl="0" marL="0" rtl="0" algn="l">
              <a:spcBef>
                <a:spcPts val="1200"/>
              </a:spcBef>
              <a:spcAft>
                <a:spcPts val="1200"/>
              </a:spcAft>
              <a:buNone/>
            </a:pPr>
            <a:r>
              <a:t/>
            </a:r>
            <a:endParaRPr/>
          </a:p>
        </p:txBody>
      </p:sp>
      <p:sp>
        <p:nvSpPr>
          <p:cNvPr id="179" name="Google Shape;179;p18"/>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180" name="Google Shape;180;p18"/>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9"/>
          <p:cNvSpPr txBox="1"/>
          <p:nvPr>
            <p:ph type="title"/>
          </p:nvPr>
        </p:nvSpPr>
        <p:spPr>
          <a:xfrm>
            <a:off x="1203550" y="374700"/>
            <a:ext cx="5891700" cy="1173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Objetivo General</a:t>
            </a:r>
            <a:endParaRPr b="1"/>
          </a:p>
          <a:p>
            <a:pPr indent="0" lvl="0" marL="0" rtl="0" algn="l">
              <a:spcBef>
                <a:spcPts val="0"/>
              </a:spcBef>
              <a:spcAft>
                <a:spcPts val="0"/>
              </a:spcAft>
              <a:buClr>
                <a:srgbClr val="000000"/>
              </a:buClr>
              <a:buSzPct val="100000"/>
              <a:buFont typeface="Arial"/>
              <a:buNone/>
            </a:pPr>
            <a:r>
              <a:rPr lang="es" sz="1600">
                <a:latin typeface="Work Sans Light"/>
                <a:ea typeface="Work Sans Light"/>
                <a:cs typeface="Work Sans Light"/>
                <a:sym typeface="Work Sans Light"/>
              </a:rPr>
              <a:t>Desarrollar un Sistema de Información Web denominado “Almasoft” como apoyo a los procesos de afiliaciones, planes fúnebres y contratos de la Funeraria Capilla Celestial.</a:t>
            </a:r>
            <a:endParaRPr/>
          </a:p>
        </p:txBody>
      </p:sp>
      <p:sp>
        <p:nvSpPr>
          <p:cNvPr id="186" name="Google Shape;186;p1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s">
                <a:latin typeface="Montserrat"/>
                <a:ea typeface="Montserrat"/>
                <a:cs typeface="Montserrat"/>
                <a:sym typeface="Montserrat"/>
              </a:rPr>
              <a:t>Objetivos </a:t>
            </a:r>
            <a:r>
              <a:rPr b="1" lang="es">
                <a:latin typeface="Montserrat"/>
                <a:ea typeface="Montserrat"/>
                <a:cs typeface="Montserrat"/>
                <a:sym typeface="Montserrat"/>
              </a:rPr>
              <a:t>específicos</a:t>
            </a:r>
            <a:r>
              <a:rPr b="1" lang="es">
                <a:latin typeface="Montserrat"/>
                <a:ea typeface="Montserrat"/>
                <a:cs typeface="Montserrat"/>
                <a:sym typeface="Montserrat"/>
              </a:rPr>
              <a:t> </a:t>
            </a:r>
            <a:endParaRPr b="1">
              <a:latin typeface="Montserrat"/>
              <a:ea typeface="Montserrat"/>
              <a:cs typeface="Montserrat"/>
              <a:sym typeface="Montserrat"/>
            </a:endParaRPr>
          </a:p>
          <a:p>
            <a:pPr indent="-311150" lvl="0" marL="457200" rtl="0" algn="l">
              <a:spcBef>
                <a:spcPts val="1200"/>
              </a:spcBef>
              <a:spcAft>
                <a:spcPts val="0"/>
              </a:spcAft>
              <a:buClr>
                <a:schemeClr val="lt1"/>
              </a:buClr>
              <a:buSzPts val="1300"/>
              <a:buFont typeface="Work Sans Light"/>
              <a:buChar char="●"/>
            </a:pPr>
            <a:r>
              <a:rPr lang="es">
                <a:latin typeface="Work Sans Light"/>
                <a:ea typeface="Work Sans Light"/>
                <a:cs typeface="Work Sans Light"/>
                <a:sym typeface="Work Sans Light"/>
              </a:rPr>
              <a:t>Desarrolla el módulo  usuarios de la Funeraria Capilla Celestial.</a:t>
            </a:r>
            <a:br>
              <a:rPr lang="es">
                <a:latin typeface="Work Sans Light"/>
                <a:ea typeface="Work Sans Light"/>
                <a:cs typeface="Work Sans Light"/>
                <a:sym typeface="Work Sans Light"/>
              </a:rPr>
            </a:br>
            <a:endParaRPr>
              <a:latin typeface="Work Sans Light"/>
              <a:ea typeface="Work Sans Light"/>
              <a:cs typeface="Work Sans Light"/>
              <a:sym typeface="Work Sans Light"/>
            </a:endParaRPr>
          </a:p>
          <a:p>
            <a:pPr indent="-311150" lvl="0" marL="457200" rtl="0" algn="l">
              <a:spcBef>
                <a:spcPts val="0"/>
              </a:spcBef>
              <a:spcAft>
                <a:spcPts val="0"/>
              </a:spcAft>
              <a:buClr>
                <a:schemeClr val="lt1"/>
              </a:buClr>
              <a:buSzPts val="1300"/>
              <a:buFont typeface="Work Sans Light"/>
              <a:buChar char="●"/>
            </a:pPr>
            <a:r>
              <a:rPr lang="es">
                <a:latin typeface="Work Sans Light"/>
                <a:ea typeface="Work Sans Light"/>
                <a:cs typeface="Work Sans Light"/>
                <a:sym typeface="Work Sans Light"/>
              </a:rPr>
              <a:t>Desarrolla el módulo de afiliaciones de la Funeraria Capilla Celestial.</a:t>
            </a:r>
            <a:br>
              <a:rPr lang="es">
                <a:latin typeface="Work Sans Light"/>
                <a:ea typeface="Work Sans Light"/>
                <a:cs typeface="Work Sans Light"/>
                <a:sym typeface="Work Sans Light"/>
              </a:rPr>
            </a:br>
            <a:endParaRPr>
              <a:latin typeface="Work Sans Light"/>
              <a:ea typeface="Work Sans Light"/>
              <a:cs typeface="Work Sans Light"/>
              <a:sym typeface="Work Sans Light"/>
            </a:endParaRPr>
          </a:p>
          <a:p>
            <a:pPr indent="-311150" lvl="0" marL="457200" rtl="0" algn="l">
              <a:spcBef>
                <a:spcPts val="0"/>
              </a:spcBef>
              <a:spcAft>
                <a:spcPts val="0"/>
              </a:spcAft>
              <a:buClr>
                <a:schemeClr val="lt1"/>
              </a:buClr>
              <a:buSzPts val="1300"/>
              <a:buFont typeface="Work Sans Light"/>
              <a:buChar char="●"/>
            </a:pPr>
            <a:r>
              <a:rPr lang="es">
                <a:latin typeface="Work Sans Light"/>
                <a:ea typeface="Work Sans Light"/>
                <a:cs typeface="Work Sans Light"/>
                <a:sym typeface="Work Sans Light"/>
              </a:rPr>
              <a:t>Desarrolla el módulo de planes fúnebres de la Funeraria Capilla Celestial.</a:t>
            </a:r>
            <a:br>
              <a:rPr lang="es">
                <a:latin typeface="Work Sans Light"/>
                <a:ea typeface="Work Sans Light"/>
                <a:cs typeface="Work Sans Light"/>
                <a:sym typeface="Work Sans Light"/>
              </a:rPr>
            </a:br>
            <a:endParaRPr>
              <a:latin typeface="Work Sans Light"/>
              <a:ea typeface="Work Sans Light"/>
              <a:cs typeface="Work Sans Light"/>
              <a:sym typeface="Work Sans Light"/>
            </a:endParaRPr>
          </a:p>
          <a:p>
            <a:pPr indent="-311150" lvl="0" marL="457200" rtl="0" algn="l">
              <a:spcBef>
                <a:spcPts val="0"/>
              </a:spcBef>
              <a:spcAft>
                <a:spcPts val="0"/>
              </a:spcAft>
              <a:buClr>
                <a:schemeClr val="lt1"/>
              </a:buClr>
              <a:buSzPts val="1300"/>
              <a:buFont typeface="Work Sans Light"/>
              <a:buChar char="●"/>
            </a:pPr>
            <a:r>
              <a:rPr lang="es">
                <a:latin typeface="Work Sans Light"/>
                <a:ea typeface="Work Sans Light"/>
                <a:cs typeface="Work Sans Light"/>
                <a:sym typeface="Work Sans Light"/>
              </a:rPr>
              <a:t>Desarrolla el módulo de cronograma de actividades de los servicios ofrecidos en la funeraria capilla celestial. </a:t>
            </a:r>
            <a:endParaRPr>
              <a:latin typeface="Work Sans Light"/>
              <a:ea typeface="Work Sans Light"/>
              <a:cs typeface="Work Sans Light"/>
              <a:sym typeface="Work Sans Light"/>
            </a:endParaRPr>
          </a:p>
          <a:p>
            <a:pPr indent="0" lvl="0" marL="457200" rtl="0" algn="l">
              <a:spcBef>
                <a:spcPts val="0"/>
              </a:spcBef>
              <a:spcAft>
                <a:spcPts val="0"/>
              </a:spcAft>
              <a:buNone/>
            </a:pPr>
            <a:r>
              <a:t/>
            </a:r>
            <a:endParaRPr/>
          </a:p>
        </p:txBody>
      </p:sp>
      <p:sp>
        <p:nvSpPr>
          <p:cNvPr id="187" name="Google Shape;187;p19"/>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188" name="Google Shape;188;p19"/>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Alcance </a:t>
            </a:r>
            <a:endParaRPr b="1"/>
          </a:p>
        </p:txBody>
      </p:sp>
      <p:sp>
        <p:nvSpPr>
          <p:cNvPr id="194" name="Google Shape;194;p20"/>
          <p:cNvSpPr txBox="1"/>
          <p:nvPr>
            <p:ph idx="1" type="body"/>
          </p:nvPr>
        </p:nvSpPr>
        <p:spPr>
          <a:xfrm>
            <a:off x="1238775" y="1250500"/>
            <a:ext cx="7038900" cy="36393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None/>
            </a:pPr>
            <a:r>
              <a:rPr lang="es" sz="5200">
                <a:latin typeface="Montserrat"/>
                <a:ea typeface="Montserrat"/>
                <a:cs typeface="Montserrat"/>
                <a:sym typeface="Montserrat"/>
              </a:rPr>
              <a:t>AlmaSOFT tiene como propósito central automatizar, optimizar y centralizar la gestión operativa, administrativa y comercial de la funeraria Capilla Celestial, ubicada en Santa Rosalía, Vichada, permitiendo un control integral de los procesos y brindando una atención personalizada a cada cliente.</a:t>
            </a:r>
            <a:endParaRPr sz="5200">
              <a:latin typeface="Montserrat"/>
              <a:ea typeface="Montserrat"/>
              <a:cs typeface="Montserrat"/>
              <a:sym typeface="Montserrat"/>
            </a:endParaRPr>
          </a:p>
          <a:p>
            <a:pPr indent="0" lvl="0" marL="0" rtl="0" algn="l">
              <a:spcBef>
                <a:spcPts val="1200"/>
              </a:spcBef>
              <a:spcAft>
                <a:spcPts val="0"/>
              </a:spcAft>
              <a:buNone/>
            </a:pPr>
            <a:r>
              <a:rPr lang="es" sz="5200">
                <a:latin typeface="Montserrat"/>
                <a:ea typeface="Montserrat"/>
                <a:cs typeface="Montserrat"/>
                <a:sym typeface="Montserrat"/>
              </a:rPr>
              <a:t>De esta manera, se busca crear un entorno digital unificado que permita gestionar los servicios funerarios desde su contratación hasta su finalización, abarcando la planificación, ejecución, seguimiento y facturación de cada servicio ofrecido.</a:t>
            </a:r>
            <a:endParaRPr sz="5200">
              <a:latin typeface="Montserrat"/>
              <a:ea typeface="Montserrat"/>
              <a:cs typeface="Montserrat"/>
              <a:sym typeface="Montserrat"/>
            </a:endParaRPr>
          </a:p>
          <a:p>
            <a:pPr indent="0" lvl="0" marL="0" rtl="0" algn="l">
              <a:spcBef>
                <a:spcPts val="1200"/>
              </a:spcBef>
              <a:spcAft>
                <a:spcPts val="0"/>
              </a:spcAft>
              <a:buNone/>
            </a:pPr>
            <a:r>
              <a:rPr lang="es" sz="5200">
                <a:latin typeface="Montserrat"/>
                <a:ea typeface="Montserrat"/>
                <a:cs typeface="Montserrat"/>
                <a:sym typeface="Montserrat"/>
              </a:rPr>
              <a:t>El sistema incluye:</a:t>
            </a:r>
            <a:endParaRPr sz="5200">
              <a:latin typeface="Montserrat"/>
              <a:ea typeface="Montserrat"/>
              <a:cs typeface="Montserrat"/>
              <a:sym typeface="Montserrat"/>
            </a:endParaRPr>
          </a:p>
          <a:p>
            <a:pPr indent="-311150" lvl="0" marL="457200" rtl="0" algn="l">
              <a:spcBef>
                <a:spcPts val="1200"/>
              </a:spcBef>
              <a:spcAft>
                <a:spcPts val="0"/>
              </a:spcAft>
              <a:buClr>
                <a:srgbClr val="000000"/>
              </a:buClr>
              <a:buSzPct val="100000"/>
              <a:buFont typeface="Montserrat"/>
              <a:buChar char="●"/>
            </a:pPr>
            <a:r>
              <a:rPr lang="es" sz="5200">
                <a:latin typeface="Montserrat"/>
                <a:ea typeface="Montserrat"/>
                <a:cs typeface="Montserrat"/>
                <a:sym typeface="Montserrat"/>
              </a:rPr>
              <a:t>Gestión de clientes</a:t>
            </a:r>
            <a:endParaRPr sz="5200">
              <a:latin typeface="Montserrat"/>
              <a:ea typeface="Montserrat"/>
              <a:cs typeface="Montserrat"/>
              <a:sym typeface="Montserrat"/>
            </a:endParaRPr>
          </a:p>
          <a:p>
            <a:pPr indent="-311150" lvl="0" marL="457200" rtl="0" algn="l">
              <a:spcBef>
                <a:spcPts val="0"/>
              </a:spcBef>
              <a:spcAft>
                <a:spcPts val="0"/>
              </a:spcAft>
              <a:buClr>
                <a:srgbClr val="000000"/>
              </a:buClr>
              <a:buSzPct val="100000"/>
              <a:buFont typeface="Montserrat"/>
              <a:buChar char="●"/>
            </a:pPr>
            <a:r>
              <a:rPr lang="es" sz="5200">
                <a:latin typeface="Montserrat"/>
                <a:ea typeface="Montserrat"/>
                <a:cs typeface="Montserrat"/>
                <a:sym typeface="Montserrat"/>
              </a:rPr>
              <a:t>Gestión de servicios funerarios</a:t>
            </a:r>
            <a:endParaRPr sz="5200">
              <a:latin typeface="Montserrat"/>
              <a:ea typeface="Montserrat"/>
              <a:cs typeface="Montserrat"/>
              <a:sym typeface="Montserrat"/>
            </a:endParaRPr>
          </a:p>
          <a:p>
            <a:pPr indent="-311150" lvl="0" marL="457200" rtl="0" algn="l">
              <a:spcBef>
                <a:spcPts val="0"/>
              </a:spcBef>
              <a:spcAft>
                <a:spcPts val="0"/>
              </a:spcAft>
              <a:buClr>
                <a:srgbClr val="000000"/>
              </a:buClr>
              <a:buSzPct val="100000"/>
              <a:buFont typeface="Montserrat"/>
              <a:buChar char="●"/>
            </a:pPr>
            <a:r>
              <a:rPr lang="es" sz="5200">
                <a:latin typeface="Montserrat"/>
                <a:ea typeface="Montserrat"/>
                <a:cs typeface="Montserrat"/>
                <a:sym typeface="Montserrat"/>
              </a:rPr>
              <a:t>Calendario operativo</a:t>
            </a:r>
            <a:endParaRPr sz="5200">
              <a:latin typeface="Montserrat"/>
              <a:ea typeface="Montserrat"/>
              <a:cs typeface="Montserrat"/>
              <a:sym typeface="Montserrat"/>
            </a:endParaRPr>
          </a:p>
          <a:p>
            <a:pPr indent="-311150" lvl="0" marL="457200" rtl="0" algn="l">
              <a:spcBef>
                <a:spcPts val="0"/>
              </a:spcBef>
              <a:spcAft>
                <a:spcPts val="0"/>
              </a:spcAft>
              <a:buClr>
                <a:srgbClr val="000000"/>
              </a:buClr>
              <a:buSzPct val="100000"/>
              <a:buFont typeface="Montserrat"/>
              <a:buChar char="●"/>
            </a:pPr>
            <a:r>
              <a:rPr lang="es" sz="5200">
                <a:latin typeface="Montserrat"/>
                <a:ea typeface="Montserrat"/>
                <a:cs typeface="Montserrat"/>
                <a:sym typeface="Montserrat"/>
              </a:rPr>
              <a:t>Gestión de inventarios</a:t>
            </a:r>
            <a:endParaRPr sz="5200">
              <a:latin typeface="Montserrat"/>
              <a:ea typeface="Montserrat"/>
              <a:cs typeface="Montserrat"/>
              <a:sym typeface="Montserrat"/>
            </a:endParaRPr>
          </a:p>
          <a:p>
            <a:pPr indent="-311150" lvl="0" marL="457200" rtl="0" algn="l">
              <a:spcBef>
                <a:spcPts val="0"/>
              </a:spcBef>
              <a:spcAft>
                <a:spcPts val="0"/>
              </a:spcAft>
              <a:buClr>
                <a:srgbClr val="000000"/>
              </a:buClr>
              <a:buSzPct val="100000"/>
              <a:buFont typeface="Montserrat"/>
              <a:buChar char="●"/>
            </a:pPr>
            <a:r>
              <a:rPr lang="es" sz="5200">
                <a:latin typeface="Montserrat"/>
                <a:ea typeface="Montserrat"/>
                <a:cs typeface="Montserrat"/>
                <a:sym typeface="Montserrat"/>
              </a:rPr>
              <a:t>Gestión documental</a:t>
            </a:r>
            <a:endParaRPr sz="5200">
              <a:latin typeface="Montserrat"/>
              <a:ea typeface="Montserrat"/>
              <a:cs typeface="Montserrat"/>
              <a:sym typeface="Montserrat"/>
            </a:endParaRPr>
          </a:p>
          <a:p>
            <a:pPr indent="-311150" lvl="0" marL="457200" rtl="0" algn="l">
              <a:spcBef>
                <a:spcPts val="0"/>
              </a:spcBef>
              <a:spcAft>
                <a:spcPts val="0"/>
              </a:spcAft>
              <a:buClr>
                <a:srgbClr val="000000"/>
              </a:buClr>
              <a:buSzPct val="100000"/>
              <a:buFont typeface="Montserrat"/>
              <a:buChar char="●"/>
            </a:pPr>
            <a:r>
              <a:rPr lang="es" sz="5200">
                <a:latin typeface="Montserrat"/>
                <a:ea typeface="Montserrat"/>
                <a:cs typeface="Montserrat"/>
                <a:sym typeface="Montserrat"/>
              </a:rPr>
              <a:t>Sistema de roles y seguridad</a:t>
            </a:r>
            <a:endParaRPr sz="5200">
              <a:latin typeface="Montserrat"/>
              <a:ea typeface="Montserrat"/>
              <a:cs typeface="Montserrat"/>
              <a:sym typeface="Montserrat"/>
            </a:endParaRPr>
          </a:p>
          <a:p>
            <a:pPr indent="-311150" lvl="0" marL="457200" rtl="0" algn="l">
              <a:spcBef>
                <a:spcPts val="0"/>
              </a:spcBef>
              <a:spcAft>
                <a:spcPts val="0"/>
              </a:spcAft>
              <a:buClr>
                <a:srgbClr val="000000"/>
              </a:buClr>
              <a:buSzPct val="100000"/>
              <a:buFont typeface="Montserrat"/>
              <a:buChar char="●"/>
            </a:pPr>
            <a:r>
              <a:rPr lang="es" sz="5200">
                <a:latin typeface="Montserrat"/>
                <a:ea typeface="Montserrat"/>
                <a:cs typeface="Montserrat"/>
                <a:sym typeface="Montserrat"/>
              </a:rPr>
              <a:t>E-commerce</a:t>
            </a:r>
            <a:endParaRPr sz="5200">
              <a:latin typeface="Montserrat"/>
              <a:ea typeface="Montserrat"/>
              <a:cs typeface="Montserrat"/>
              <a:sym typeface="Montserrat"/>
            </a:endParaRPr>
          </a:p>
          <a:p>
            <a:pPr indent="0" lvl="0" marL="0" rtl="0" algn="l">
              <a:spcBef>
                <a:spcPts val="1200"/>
              </a:spcBef>
              <a:spcAft>
                <a:spcPts val="1200"/>
              </a:spcAft>
              <a:buNone/>
            </a:pPr>
            <a:r>
              <a:t/>
            </a:r>
            <a:endParaRPr/>
          </a:p>
        </p:txBody>
      </p:sp>
      <p:sp>
        <p:nvSpPr>
          <p:cNvPr id="195" name="Google Shape;195;p20"/>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196" name="Google Shape;196;p20"/>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Justificación</a:t>
            </a:r>
            <a:endParaRPr b="1"/>
          </a:p>
        </p:txBody>
      </p:sp>
      <p:sp>
        <p:nvSpPr>
          <p:cNvPr id="202" name="Google Shape;202;p2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92500" lnSpcReduction="20000"/>
          </a:bodyPr>
          <a:lstStyle/>
          <a:p>
            <a:pPr indent="0" lvl="0" marL="0" rtl="0" algn="l">
              <a:spcBef>
                <a:spcPts val="1200"/>
              </a:spcBef>
              <a:spcAft>
                <a:spcPts val="0"/>
              </a:spcAft>
              <a:buNone/>
            </a:pPr>
            <a:r>
              <a:rPr b="1" lang="es">
                <a:latin typeface="Montserrat"/>
                <a:ea typeface="Montserrat"/>
                <a:cs typeface="Montserrat"/>
                <a:sym typeface="Montserrat"/>
              </a:rPr>
              <a:t>Automatización de procesos:</a:t>
            </a:r>
            <a:br>
              <a:rPr b="1" lang="es">
                <a:latin typeface="Montserrat"/>
                <a:ea typeface="Montserrat"/>
                <a:cs typeface="Montserrat"/>
                <a:sym typeface="Montserrat"/>
              </a:rPr>
            </a:br>
            <a:r>
              <a:rPr lang="es">
                <a:latin typeface="Montserrat"/>
                <a:ea typeface="Montserrat"/>
                <a:cs typeface="Montserrat"/>
                <a:sym typeface="Montserrat"/>
              </a:rPr>
              <a:t> La automatización de tareas como la gestión de inventarios, la facturación, la programación de servicios y la coordinación logística reduce la carga de trabajo manual, minimiza errores y optimiza el tiempo.</a:t>
            </a:r>
            <a:endParaRPr>
              <a:latin typeface="Montserrat"/>
              <a:ea typeface="Montserrat"/>
              <a:cs typeface="Montserrat"/>
              <a:sym typeface="Montserrat"/>
            </a:endParaRPr>
          </a:p>
          <a:p>
            <a:pPr indent="0" lvl="0" marL="0" rtl="0" algn="l">
              <a:spcBef>
                <a:spcPts val="1200"/>
              </a:spcBef>
              <a:spcAft>
                <a:spcPts val="0"/>
              </a:spcAft>
              <a:buNone/>
            </a:pPr>
            <a:r>
              <a:rPr b="1" lang="es">
                <a:latin typeface="Montserrat"/>
                <a:ea typeface="Montserrat"/>
                <a:cs typeface="Montserrat"/>
                <a:sym typeface="Montserrat"/>
              </a:rPr>
              <a:t>Interconexión entre departamentos:</a:t>
            </a:r>
            <a:br>
              <a:rPr b="1" lang="es">
                <a:latin typeface="Montserrat"/>
                <a:ea typeface="Montserrat"/>
                <a:cs typeface="Montserrat"/>
                <a:sym typeface="Montserrat"/>
              </a:rPr>
            </a:br>
            <a:r>
              <a:rPr lang="es">
                <a:latin typeface="Montserrat"/>
                <a:ea typeface="Montserrat"/>
                <a:cs typeface="Montserrat"/>
                <a:sym typeface="Montserrat"/>
              </a:rPr>
              <a:t> El sistema conecta las diferentes áreas de la funeraria (ventas, logística, atención al cliente y administración), mejorando la comunicación y evitando la duplicación de tareas.</a:t>
            </a:r>
            <a:endParaRPr>
              <a:latin typeface="Montserrat"/>
              <a:ea typeface="Montserrat"/>
              <a:cs typeface="Montserrat"/>
              <a:sym typeface="Montserrat"/>
            </a:endParaRPr>
          </a:p>
          <a:p>
            <a:pPr indent="0" lvl="0" marL="0" rtl="0" algn="l">
              <a:spcBef>
                <a:spcPts val="1200"/>
              </a:spcBef>
              <a:spcAft>
                <a:spcPts val="0"/>
              </a:spcAft>
              <a:buNone/>
            </a:pPr>
            <a:r>
              <a:rPr lang="es">
                <a:latin typeface="Montserrat"/>
                <a:ea typeface="Montserrat"/>
                <a:cs typeface="Montserrat"/>
                <a:sym typeface="Montserrat"/>
              </a:rPr>
              <a:t>Además, un software administrativo para una funeraria no solo permite organizar y optimizar las operaciones diarias, sino que también mejora la calidad del servicio, incrementa la eficiencia y facilita la toma de decisiones. A largo plazo, representa una inversión que se traduce en mayor rentabilidad y satisfacción del cliente.</a:t>
            </a:r>
            <a:endParaRPr>
              <a:latin typeface="Montserrat"/>
              <a:ea typeface="Montserrat"/>
              <a:cs typeface="Montserrat"/>
              <a:sym typeface="Montserrat"/>
            </a:endParaRPr>
          </a:p>
          <a:p>
            <a:pPr indent="0" lvl="0" marL="0" rtl="0" algn="l">
              <a:spcBef>
                <a:spcPts val="1200"/>
              </a:spcBef>
              <a:spcAft>
                <a:spcPts val="1200"/>
              </a:spcAft>
              <a:buNone/>
            </a:pPr>
            <a:r>
              <a:t/>
            </a:r>
            <a:endParaRPr>
              <a:latin typeface="Montserrat"/>
              <a:ea typeface="Montserrat"/>
              <a:cs typeface="Montserrat"/>
              <a:sym typeface="Montserrat"/>
            </a:endParaRPr>
          </a:p>
        </p:txBody>
      </p:sp>
      <p:sp>
        <p:nvSpPr>
          <p:cNvPr id="203" name="Google Shape;203;p21"/>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204" name="Google Shape;204;p21"/>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Mapa de procesos</a:t>
            </a:r>
            <a:endParaRPr b="1"/>
          </a:p>
        </p:txBody>
      </p:sp>
      <p:sp>
        <p:nvSpPr>
          <p:cNvPr id="210" name="Google Shape;210;p2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11" name="Google Shape;211;p22"/>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212" name="Google Shape;212;p22"/>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pic>
        <p:nvPicPr>
          <p:cNvPr id="213" name="Google Shape;213;p22"/>
          <p:cNvPicPr preferRelativeResize="0"/>
          <p:nvPr/>
        </p:nvPicPr>
        <p:blipFill rotWithShape="1">
          <a:blip r:embed="rId4">
            <a:alphaModFix/>
          </a:blip>
          <a:srcRect b="0" l="0" r="0" t="0"/>
          <a:stretch/>
        </p:blipFill>
        <p:spPr>
          <a:xfrm>
            <a:off x="664638" y="1537875"/>
            <a:ext cx="7814725" cy="29705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Recolección</a:t>
            </a:r>
            <a:r>
              <a:rPr b="1" lang="es"/>
              <a:t> de Datos</a:t>
            </a:r>
            <a:endParaRPr b="1"/>
          </a:p>
        </p:txBody>
      </p:sp>
      <p:sp>
        <p:nvSpPr>
          <p:cNvPr id="219" name="Google Shape;219;p2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20" name="Google Shape;220;p23"/>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221" name="Google Shape;221;p23"/>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pic>
        <p:nvPicPr>
          <p:cNvPr id="222" name="Google Shape;222;p23"/>
          <p:cNvPicPr preferRelativeResize="0"/>
          <p:nvPr/>
        </p:nvPicPr>
        <p:blipFill rotWithShape="1">
          <a:blip r:embed="rId4">
            <a:alphaModFix/>
          </a:blip>
          <a:srcRect b="0" l="0" r="0" t="0"/>
          <a:stretch/>
        </p:blipFill>
        <p:spPr>
          <a:xfrm>
            <a:off x="261300" y="1490576"/>
            <a:ext cx="2862749" cy="2988175"/>
          </a:xfrm>
          <a:prstGeom prst="rect">
            <a:avLst/>
          </a:prstGeom>
          <a:noFill/>
          <a:ln>
            <a:noFill/>
          </a:ln>
        </p:spPr>
      </p:pic>
      <p:pic>
        <p:nvPicPr>
          <p:cNvPr id="223" name="Google Shape;223;p23"/>
          <p:cNvPicPr preferRelativeResize="0"/>
          <p:nvPr/>
        </p:nvPicPr>
        <p:blipFill rotWithShape="1">
          <a:blip r:embed="rId5">
            <a:alphaModFix/>
          </a:blip>
          <a:srcRect b="0" l="0" r="0" t="0"/>
          <a:stretch/>
        </p:blipFill>
        <p:spPr>
          <a:xfrm>
            <a:off x="3179601" y="1478213"/>
            <a:ext cx="2784775" cy="3089876"/>
          </a:xfrm>
          <a:prstGeom prst="rect">
            <a:avLst/>
          </a:prstGeom>
          <a:noFill/>
          <a:ln>
            <a:noFill/>
          </a:ln>
        </p:spPr>
      </p:pic>
      <p:pic>
        <p:nvPicPr>
          <p:cNvPr id="224" name="Google Shape;224;p23"/>
          <p:cNvPicPr preferRelativeResize="0"/>
          <p:nvPr/>
        </p:nvPicPr>
        <p:blipFill rotWithShape="1">
          <a:blip r:embed="rId6">
            <a:alphaModFix/>
          </a:blip>
          <a:srcRect b="0" l="0" r="0" t="0"/>
          <a:stretch/>
        </p:blipFill>
        <p:spPr>
          <a:xfrm>
            <a:off x="6019925" y="1529075"/>
            <a:ext cx="2712015" cy="29881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Recolección de Datos</a:t>
            </a:r>
            <a:endParaRPr b="1"/>
          </a:p>
        </p:txBody>
      </p:sp>
      <p:sp>
        <p:nvSpPr>
          <p:cNvPr id="230" name="Google Shape;230;p2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70000" lnSpcReduction="20000"/>
          </a:bodyPr>
          <a:lstStyle/>
          <a:p>
            <a:pPr indent="0" lvl="0" marL="0" rtl="0" algn="just">
              <a:lnSpc>
                <a:spcPct val="100000"/>
              </a:lnSpc>
              <a:spcBef>
                <a:spcPts val="0"/>
              </a:spcBef>
              <a:spcAft>
                <a:spcPts val="0"/>
              </a:spcAft>
              <a:buClr>
                <a:srgbClr val="000000"/>
              </a:buClr>
              <a:buSzPct val="105882"/>
              <a:buFont typeface="Arial"/>
              <a:buNone/>
            </a:pPr>
            <a:r>
              <a:rPr lang="es" sz="1700">
                <a:solidFill>
                  <a:srgbClr val="000000"/>
                </a:solidFill>
                <a:latin typeface="Montserrat"/>
                <a:ea typeface="Montserrat"/>
                <a:cs typeface="Montserrat"/>
                <a:sym typeface="Montserrat"/>
              </a:rPr>
              <a:t>-</a:t>
            </a:r>
            <a:r>
              <a:rPr lang="es" sz="1700">
                <a:latin typeface="Montserrat"/>
                <a:ea typeface="Montserrat"/>
                <a:cs typeface="Montserrat"/>
                <a:sym typeface="Montserrat"/>
              </a:rPr>
              <a:t>Los resultados de la encuesta revelan que, si bien cerca del 50% de las funerarias ya utiliza algún tipo de software administrativo, más de la mitad aún opera con métodos tradicionales, lo que evidencia una oportunidad significativa en el mercado.</a:t>
            </a:r>
            <a:endParaRPr sz="1700">
              <a:latin typeface="Montserrat"/>
              <a:ea typeface="Montserrat"/>
              <a:cs typeface="Montserrat"/>
              <a:sym typeface="Montserrat"/>
            </a:endParaRPr>
          </a:p>
          <a:p>
            <a:pPr indent="0" lvl="0" marL="0" rtl="0" algn="l">
              <a:spcBef>
                <a:spcPts val="1200"/>
              </a:spcBef>
              <a:spcAft>
                <a:spcPts val="0"/>
              </a:spcAft>
              <a:buClr>
                <a:srgbClr val="C0791B"/>
              </a:buClr>
              <a:buSzPct val="64706"/>
              <a:buFont typeface="Arial"/>
              <a:buNone/>
            </a:pPr>
            <a:r>
              <a:rPr lang="es" sz="1700">
                <a:latin typeface="Montserrat"/>
                <a:ea typeface="Montserrat"/>
                <a:cs typeface="Montserrat"/>
                <a:sym typeface="Montserrat"/>
              </a:rPr>
              <a:t>Las necesidades más urgentes se centran en la gestión eficiente de datos, inventarios y cronogramas, así como en la organización de información de clientes y servicios. Además, se identifica una fuerte demanda de sistemas intuitivos que faciliten el acceso rápido a historiales y optimicen los procesos financieros y logísticos.</a:t>
            </a:r>
            <a:endParaRPr sz="1700">
              <a:latin typeface="Montserrat"/>
              <a:ea typeface="Montserrat"/>
              <a:cs typeface="Montserrat"/>
              <a:sym typeface="Montserrat"/>
            </a:endParaRPr>
          </a:p>
          <a:p>
            <a:pPr indent="0" lvl="0" marL="0" rtl="0" algn="l">
              <a:spcBef>
                <a:spcPts val="1200"/>
              </a:spcBef>
              <a:spcAft>
                <a:spcPts val="0"/>
              </a:spcAft>
              <a:buClr>
                <a:srgbClr val="C0791B"/>
              </a:buClr>
              <a:buSzPct val="64706"/>
              <a:buFont typeface="Arial"/>
              <a:buNone/>
            </a:pPr>
            <a:r>
              <a:rPr lang="es" sz="1700">
                <a:latin typeface="Montserrat"/>
                <a:ea typeface="Montserrat"/>
                <a:cs typeface="Montserrat"/>
                <a:sym typeface="Montserrat"/>
              </a:rPr>
              <a:t>Teniendo en cuenta que la mayoría de las funerarias administran múltiples planes funerarios y requieren un control detallado de sus operaciones, un software integral, modular y adaptable se presenta como la solución ideal.</a:t>
            </a:r>
            <a:endParaRPr sz="1700">
              <a:latin typeface="Montserrat"/>
              <a:ea typeface="Montserrat"/>
              <a:cs typeface="Montserrat"/>
              <a:sym typeface="Montserrat"/>
            </a:endParaRPr>
          </a:p>
          <a:p>
            <a:pPr indent="0" lvl="0" marL="0" rtl="0" algn="l">
              <a:spcBef>
                <a:spcPts val="1200"/>
              </a:spcBef>
              <a:spcAft>
                <a:spcPts val="0"/>
              </a:spcAft>
              <a:buClr>
                <a:srgbClr val="C0791B"/>
              </a:buClr>
              <a:buSzPct val="64706"/>
              <a:buFont typeface="Arial"/>
              <a:buNone/>
            </a:pPr>
            <a:r>
              <a:rPr lang="es" sz="1700">
                <a:latin typeface="Montserrat"/>
                <a:ea typeface="Montserrat"/>
                <a:cs typeface="Montserrat"/>
                <a:sym typeface="Montserrat"/>
              </a:rPr>
              <a:t>En conclusión, el desarrollo de una plataforma intuitiva, orientada a automatizar tareas administrativas y mejorar la experiencia del cliente, no sólo resolvería problemas operativos actuales, sino que también potenciaría la competitividad del sector funerario.</a:t>
            </a:r>
            <a:endParaRPr>
              <a:latin typeface="Montserrat"/>
              <a:ea typeface="Montserrat"/>
              <a:cs typeface="Montserrat"/>
              <a:sym typeface="Montserrat"/>
            </a:endParaRPr>
          </a:p>
        </p:txBody>
      </p:sp>
      <p:sp>
        <p:nvSpPr>
          <p:cNvPr id="231" name="Google Shape;231;p24"/>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232" name="Google Shape;232;p24"/>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Requerimientos </a:t>
            </a:r>
            <a:endParaRPr b="1"/>
          </a:p>
        </p:txBody>
      </p:sp>
      <p:sp>
        <p:nvSpPr>
          <p:cNvPr id="238" name="Google Shape;238;p2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39" name="Google Shape;239;p25"/>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240" name="Google Shape;240;p25"/>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pic>
        <p:nvPicPr>
          <p:cNvPr id="241" name="Google Shape;241;p25"/>
          <p:cNvPicPr preferRelativeResize="0"/>
          <p:nvPr/>
        </p:nvPicPr>
        <p:blipFill>
          <a:blip r:embed="rId4">
            <a:alphaModFix/>
          </a:blip>
          <a:stretch>
            <a:fillRect/>
          </a:stretch>
        </p:blipFill>
        <p:spPr>
          <a:xfrm>
            <a:off x="551253" y="1298311"/>
            <a:ext cx="8041498" cy="3496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6"/>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247" name="Google Shape;247;p26"/>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pic>
        <p:nvPicPr>
          <p:cNvPr id="248" name="Google Shape;248;p26"/>
          <p:cNvPicPr preferRelativeResize="0"/>
          <p:nvPr/>
        </p:nvPicPr>
        <p:blipFill>
          <a:blip r:embed="rId4">
            <a:alphaModFix/>
          </a:blip>
          <a:stretch>
            <a:fillRect/>
          </a:stretch>
        </p:blipFill>
        <p:spPr>
          <a:xfrm>
            <a:off x="727800" y="273075"/>
            <a:ext cx="7717874" cy="45973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7"/>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254" name="Google Shape;254;p27"/>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pic>
        <p:nvPicPr>
          <p:cNvPr id="255" name="Google Shape;255;p27"/>
          <p:cNvPicPr preferRelativeResize="0"/>
          <p:nvPr/>
        </p:nvPicPr>
        <p:blipFill>
          <a:blip r:embed="rId4">
            <a:alphaModFix/>
          </a:blip>
          <a:stretch>
            <a:fillRect/>
          </a:stretch>
        </p:blipFill>
        <p:spPr>
          <a:xfrm>
            <a:off x="598650" y="273075"/>
            <a:ext cx="7858775" cy="45973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8"/>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261" name="Google Shape;261;p28"/>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pic>
        <p:nvPicPr>
          <p:cNvPr id="262" name="Google Shape;262;p28"/>
          <p:cNvPicPr preferRelativeResize="0"/>
          <p:nvPr/>
        </p:nvPicPr>
        <p:blipFill>
          <a:blip r:embed="rId4">
            <a:alphaModFix/>
          </a:blip>
          <a:stretch>
            <a:fillRect/>
          </a:stretch>
        </p:blipFill>
        <p:spPr>
          <a:xfrm>
            <a:off x="906575" y="273075"/>
            <a:ext cx="7550849" cy="45973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9"/>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268" name="Google Shape;268;p29"/>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pic>
        <p:nvPicPr>
          <p:cNvPr id="269" name="Google Shape;269;p29"/>
          <p:cNvPicPr preferRelativeResize="0"/>
          <p:nvPr/>
        </p:nvPicPr>
        <p:blipFill>
          <a:blip r:embed="rId4">
            <a:alphaModFix/>
          </a:blip>
          <a:stretch>
            <a:fillRect/>
          </a:stretch>
        </p:blipFill>
        <p:spPr>
          <a:xfrm>
            <a:off x="1024000" y="199375"/>
            <a:ext cx="7386451" cy="45973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0"/>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275" name="Google Shape;275;p30"/>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pic>
        <p:nvPicPr>
          <p:cNvPr id="276" name="Google Shape;276;p30"/>
          <p:cNvPicPr preferRelativeResize="0"/>
          <p:nvPr/>
        </p:nvPicPr>
        <p:blipFill>
          <a:blip r:embed="rId4">
            <a:alphaModFix/>
          </a:blip>
          <a:stretch>
            <a:fillRect/>
          </a:stretch>
        </p:blipFill>
        <p:spPr>
          <a:xfrm>
            <a:off x="152400" y="1118575"/>
            <a:ext cx="8839198" cy="3556979"/>
          </a:xfrm>
          <a:prstGeom prst="rect">
            <a:avLst/>
          </a:prstGeom>
          <a:noFill/>
          <a:ln>
            <a:noFill/>
          </a:ln>
        </p:spPr>
      </p:pic>
      <p:sp>
        <p:nvSpPr>
          <p:cNvPr id="277" name="Google Shape;277;p3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Casos de Uso extendidos </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1"/>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283" name="Google Shape;283;p31"/>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
        <p:nvSpPr>
          <p:cNvPr id="284" name="Google Shape;284;p3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Mockap</a:t>
            </a:r>
            <a:endParaRPr b="1"/>
          </a:p>
        </p:txBody>
      </p:sp>
      <p:pic>
        <p:nvPicPr>
          <p:cNvPr id="285" name="Google Shape;285;p31"/>
          <p:cNvPicPr preferRelativeResize="0"/>
          <p:nvPr/>
        </p:nvPicPr>
        <p:blipFill>
          <a:blip r:embed="rId4">
            <a:alphaModFix/>
          </a:blip>
          <a:stretch>
            <a:fillRect/>
          </a:stretch>
        </p:blipFill>
        <p:spPr>
          <a:xfrm>
            <a:off x="453713" y="1023325"/>
            <a:ext cx="8236568" cy="35308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2"/>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291" name="Google Shape;291;p32"/>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
        <p:nvSpPr>
          <p:cNvPr id="292" name="Google Shape;292;p3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Modelo de entidad y relación</a:t>
            </a:r>
            <a:endParaRPr b="1"/>
          </a:p>
        </p:txBody>
      </p:sp>
      <p:pic>
        <p:nvPicPr>
          <p:cNvPr id="293" name="Google Shape;293;p32"/>
          <p:cNvPicPr preferRelativeResize="0"/>
          <p:nvPr/>
        </p:nvPicPr>
        <p:blipFill rotWithShape="1">
          <a:blip r:embed="rId4">
            <a:alphaModFix/>
          </a:blip>
          <a:srcRect b="0" l="0" r="0" t="0"/>
          <a:stretch/>
        </p:blipFill>
        <p:spPr>
          <a:xfrm>
            <a:off x="1155175" y="1023325"/>
            <a:ext cx="6045700" cy="39441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3"/>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299" name="Google Shape;299;p33"/>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
        <p:nvSpPr>
          <p:cNvPr id="300" name="Google Shape;300;p3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Diccionario de Datos </a:t>
            </a:r>
            <a:endParaRPr b="1"/>
          </a:p>
        </p:txBody>
      </p:sp>
      <p:pic>
        <p:nvPicPr>
          <p:cNvPr id="301" name="Google Shape;301;p33"/>
          <p:cNvPicPr preferRelativeResize="0"/>
          <p:nvPr/>
        </p:nvPicPr>
        <p:blipFill rotWithShape="1">
          <a:blip r:embed="rId4">
            <a:alphaModFix/>
          </a:blip>
          <a:srcRect b="0" l="0" r="0" t="0"/>
          <a:stretch/>
        </p:blipFill>
        <p:spPr>
          <a:xfrm>
            <a:off x="85800" y="1550250"/>
            <a:ext cx="4272476" cy="2860450"/>
          </a:xfrm>
          <a:prstGeom prst="rect">
            <a:avLst/>
          </a:prstGeom>
          <a:noFill/>
          <a:ln>
            <a:noFill/>
          </a:ln>
        </p:spPr>
      </p:pic>
      <p:pic>
        <p:nvPicPr>
          <p:cNvPr id="302" name="Google Shape;302;p33"/>
          <p:cNvPicPr preferRelativeResize="0"/>
          <p:nvPr/>
        </p:nvPicPr>
        <p:blipFill rotWithShape="1">
          <a:blip r:embed="rId5">
            <a:alphaModFix/>
          </a:blip>
          <a:srcRect b="0" l="0" r="0" t="0"/>
          <a:stretch/>
        </p:blipFill>
        <p:spPr>
          <a:xfrm>
            <a:off x="4358275" y="1550250"/>
            <a:ext cx="4518550" cy="28604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4"/>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308" name="Google Shape;308;p34"/>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
        <p:nvSpPr>
          <p:cNvPr id="309" name="Google Shape;309;p3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Diagrama de clases y </a:t>
            </a:r>
            <a:r>
              <a:rPr b="1" lang="es"/>
              <a:t>Relación</a:t>
            </a:r>
            <a:r>
              <a:rPr b="1" lang="es"/>
              <a:t> </a:t>
            </a:r>
            <a:endParaRPr b="1"/>
          </a:p>
        </p:txBody>
      </p:sp>
      <p:pic>
        <p:nvPicPr>
          <p:cNvPr id="310" name="Google Shape;310;p34"/>
          <p:cNvPicPr preferRelativeResize="0"/>
          <p:nvPr/>
        </p:nvPicPr>
        <p:blipFill rotWithShape="1">
          <a:blip r:embed="rId4">
            <a:alphaModFix/>
          </a:blip>
          <a:srcRect b="0" l="0" r="0" t="0"/>
          <a:stretch/>
        </p:blipFill>
        <p:spPr>
          <a:xfrm>
            <a:off x="633875" y="1063125"/>
            <a:ext cx="7813700" cy="38501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5"/>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316" name="Google Shape;316;p35"/>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
        <p:nvSpPr>
          <p:cNvPr id="317" name="Google Shape;317;p3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Dominio del sistema </a:t>
            </a:r>
            <a:endParaRPr b="1"/>
          </a:p>
        </p:txBody>
      </p:sp>
      <p:pic>
        <p:nvPicPr>
          <p:cNvPr id="318" name="Google Shape;318;p35"/>
          <p:cNvPicPr preferRelativeResize="0"/>
          <p:nvPr/>
        </p:nvPicPr>
        <p:blipFill rotWithShape="1">
          <a:blip r:embed="rId4">
            <a:alphaModFix/>
          </a:blip>
          <a:srcRect b="0" l="0" r="0" t="0"/>
          <a:stretch/>
        </p:blipFill>
        <p:spPr>
          <a:xfrm>
            <a:off x="1036525" y="1180625"/>
            <a:ext cx="7038900" cy="373022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6"/>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324" name="Google Shape;324;p36"/>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
        <p:nvSpPr>
          <p:cNvPr id="325" name="Google Shape;325;p3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Diagrama de distribución </a:t>
            </a:r>
            <a:endParaRPr b="1"/>
          </a:p>
        </p:txBody>
      </p:sp>
      <p:pic>
        <p:nvPicPr>
          <p:cNvPr id="326" name="Google Shape;326;p36"/>
          <p:cNvPicPr preferRelativeResize="0"/>
          <p:nvPr/>
        </p:nvPicPr>
        <p:blipFill rotWithShape="1">
          <a:blip r:embed="rId4">
            <a:alphaModFix/>
          </a:blip>
          <a:srcRect b="0" l="0" r="4187" t="0"/>
          <a:stretch/>
        </p:blipFill>
        <p:spPr>
          <a:xfrm>
            <a:off x="2454575" y="1023325"/>
            <a:ext cx="3136675" cy="39057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7"/>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332" name="Google Shape;332;p37"/>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
        <p:nvSpPr>
          <p:cNvPr id="333" name="Google Shape;333;p3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Backend </a:t>
            </a:r>
            <a:endParaRPr b="1"/>
          </a:p>
        </p:txBody>
      </p:sp>
      <p:pic>
        <p:nvPicPr>
          <p:cNvPr id="334" name="Google Shape;334;p37"/>
          <p:cNvPicPr preferRelativeResize="0"/>
          <p:nvPr/>
        </p:nvPicPr>
        <p:blipFill>
          <a:blip r:embed="rId4">
            <a:alphaModFix/>
          </a:blip>
          <a:stretch>
            <a:fillRect/>
          </a:stretch>
        </p:blipFill>
        <p:spPr>
          <a:xfrm>
            <a:off x="1232775" y="1201900"/>
            <a:ext cx="6277066" cy="35308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8"/>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340" name="Google Shape;340;p38"/>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
        <p:nvSpPr>
          <p:cNvPr id="341" name="Google Shape;341;p3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frontend</a:t>
            </a:r>
            <a:endParaRPr b="1"/>
          </a:p>
        </p:txBody>
      </p:sp>
      <p:pic>
        <p:nvPicPr>
          <p:cNvPr id="342" name="Google Shape;342;p38"/>
          <p:cNvPicPr preferRelativeResize="0"/>
          <p:nvPr/>
        </p:nvPicPr>
        <p:blipFill>
          <a:blip r:embed="rId4">
            <a:alphaModFix/>
          </a:blip>
          <a:stretch>
            <a:fillRect/>
          </a:stretch>
        </p:blipFill>
        <p:spPr>
          <a:xfrm>
            <a:off x="768850" y="1117275"/>
            <a:ext cx="3631252" cy="1967676"/>
          </a:xfrm>
          <a:prstGeom prst="rect">
            <a:avLst/>
          </a:prstGeom>
          <a:noFill/>
          <a:ln>
            <a:noFill/>
          </a:ln>
        </p:spPr>
      </p:pic>
      <p:pic>
        <p:nvPicPr>
          <p:cNvPr id="343" name="Google Shape;343;p38"/>
          <p:cNvPicPr preferRelativeResize="0"/>
          <p:nvPr/>
        </p:nvPicPr>
        <p:blipFill>
          <a:blip r:embed="rId5">
            <a:alphaModFix/>
          </a:blip>
          <a:stretch>
            <a:fillRect/>
          </a:stretch>
        </p:blipFill>
        <p:spPr>
          <a:xfrm>
            <a:off x="4410627" y="1117275"/>
            <a:ext cx="3735524" cy="2017174"/>
          </a:xfrm>
          <a:prstGeom prst="rect">
            <a:avLst/>
          </a:prstGeom>
          <a:noFill/>
          <a:ln>
            <a:noFill/>
          </a:ln>
        </p:spPr>
      </p:pic>
      <p:pic>
        <p:nvPicPr>
          <p:cNvPr id="344" name="Google Shape;344;p38"/>
          <p:cNvPicPr preferRelativeResize="0"/>
          <p:nvPr/>
        </p:nvPicPr>
        <p:blipFill>
          <a:blip r:embed="rId6">
            <a:alphaModFix/>
          </a:blip>
          <a:stretch>
            <a:fillRect/>
          </a:stretch>
        </p:blipFill>
        <p:spPr>
          <a:xfrm>
            <a:off x="780600" y="3117375"/>
            <a:ext cx="3648056" cy="1967675"/>
          </a:xfrm>
          <a:prstGeom prst="rect">
            <a:avLst/>
          </a:prstGeom>
          <a:noFill/>
          <a:ln>
            <a:noFill/>
          </a:ln>
        </p:spPr>
      </p:pic>
      <p:pic>
        <p:nvPicPr>
          <p:cNvPr id="345" name="Google Shape;345;p38"/>
          <p:cNvPicPr preferRelativeResize="0"/>
          <p:nvPr/>
        </p:nvPicPr>
        <p:blipFill>
          <a:blip r:embed="rId7">
            <a:alphaModFix/>
          </a:blip>
          <a:stretch>
            <a:fillRect/>
          </a:stretch>
        </p:blipFill>
        <p:spPr>
          <a:xfrm>
            <a:off x="4428650" y="3117375"/>
            <a:ext cx="3735524" cy="19133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9"/>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351" name="Google Shape;351;p39"/>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
        <p:nvSpPr>
          <p:cNvPr id="352" name="Google Shape;352;p3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Criterios de </a:t>
            </a:r>
            <a:r>
              <a:rPr b="1" lang="es"/>
              <a:t>elección</a:t>
            </a:r>
            <a:r>
              <a:rPr b="1" lang="es"/>
              <a:t> mobile </a:t>
            </a:r>
            <a:endParaRPr b="1"/>
          </a:p>
        </p:txBody>
      </p:sp>
      <p:sp>
        <p:nvSpPr>
          <p:cNvPr id="353" name="Google Shape;353;p39"/>
          <p:cNvSpPr txBox="1"/>
          <p:nvPr/>
        </p:nvSpPr>
        <p:spPr>
          <a:xfrm>
            <a:off x="317077" y="1233057"/>
            <a:ext cx="4958100" cy="392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
                <a:solidFill>
                  <a:schemeClr val="lt1"/>
                </a:solidFill>
                <a:latin typeface="Montserrat"/>
                <a:ea typeface="Montserrat"/>
                <a:cs typeface="Montserrat"/>
                <a:sym typeface="Montserrat"/>
              </a:rPr>
              <a:t>Una aplicación móvil es más efectiva y práctica que una página web cuando se requiere acceso constante y respuesta inmediata. Su efectividad puede alcanzar alrededor del 85 %, gracias al acceso directo, mejor rendimiento y notificaciones en tiempo real, mientras que la web ronda el 65 % por depender del navegador y la conexión a internet.</a:t>
            </a:r>
            <a:endParaRPr>
              <a:solidFill>
                <a:schemeClr val="lt1"/>
              </a:solidFill>
              <a:latin typeface="Montserrat"/>
              <a:ea typeface="Montserrat"/>
              <a:cs typeface="Montserrat"/>
              <a:sym typeface="Montserrat"/>
            </a:endParaRPr>
          </a:p>
          <a:p>
            <a:pPr indent="0" lvl="0" marL="0" rtl="0" algn="l">
              <a:lnSpc>
                <a:spcPct val="115000"/>
              </a:lnSpc>
              <a:spcBef>
                <a:spcPts val="1200"/>
              </a:spcBef>
              <a:spcAft>
                <a:spcPts val="0"/>
              </a:spcAft>
              <a:buNone/>
            </a:pPr>
            <a:r>
              <a:rPr lang="es">
                <a:solidFill>
                  <a:schemeClr val="lt1"/>
                </a:solidFill>
                <a:latin typeface="Montserrat"/>
                <a:ea typeface="Montserrat"/>
                <a:cs typeface="Montserrat"/>
                <a:sym typeface="Montserrat"/>
              </a:rPr>
              <a:t>En practicidad, la app llega cerca del 90 %, al estar optimizada para uso táctil y funciones del dispositivo. La página web, con un 70 %, resulta útil para accesos ocasionales, pero menos cómoda para uso frecuente.</a:t>
            </a:r>
            <a:endParaRPr>
              <a:solidFill>
                <a:schemeClr val="lt1"/>
              </a:solidFill>
              <a:latin typeface="Montserrat"/>
              <a:ea typeface="Montserrat"/>
              <a:cs typeface="Montserrat"/>
              <a:sym typeface="Montserrat"/>
            </a:endParaRPr>
          </a:p>
          <a:p>
            <a:pPr indent="0" lvl="0" marL="0" rtl="0" algn="l">
              <a:lnSpc>
                <a:spcPct val="115000"/>
              </a:lnSpc>
              <a:spcBef>
                <a:spcPts val="1200"/>
              </a:spcBef>
              <a:spcAft>
                <a:spcPts val="1200"/>
              </a:spcAft>
              <a:buNone/>
            </a:pPr>
            <a:r>
              <a:rPr lang="es">
                <a:solidFill>
                  <a:schemeClr val="lt1"/>
                </a:solidFill>
                <a:latin typeface="Montserrat"/>
                <a:ea typeface="Montserrat"/>
                <a:cs typeface="Montserrat"/>
                <a:sym typeface="Montserrat"/>
              </a:rPr>
              <a:t>En conjunto, la app móvil es una solución más eficiente y adecuada para la gestión continua de servicios.</a:t>
            </a:r>
            <a:endParaRPr>
              <a:solidFill>
                <a:schemeClr val="lt1"/>
              </a:solidFill>
              <a:latin typeface="Montserrat"/>
              <a:ea typeface="Montserrat"/>
              <a:cs typeface="Montserrat"/>
              <a:sym typeface="Montserrat"/>
            </a:endParaRPr>
          </a:p>
        </p:txBody>
      </p:sp>
      <p:pic>
        <p:nvPicPr>
          <p:cNvPr id="354" name="Google Shape;354;p39"/>
          <p:cNvPicPr preferRelativeResize="0"/>
          <p:nvPr/>
        </p:nvPicPr>
        <p:blipFill>
          <a:blip r:embed="rId4">
            <a:alphaModFix/>
          </a:blip>
          <a:stretch>
            <a:fillRect/>
          </a:stretch>
        </p:blipFill>
        <p:spPr>
          <a:xfrm>
            <a:off x="5461424" y="1233051"/>
            <a:ext cx="3183900" cy="2791450"/>
          </a:xfrm>
          <a:prstGeom prst="rect">
            <a:avLst/>
          </a:prstGeom>
          <a:noFill/>
          <a:ln>
            <a:noFill/>
          </a:ln>
        </p:spPr>
      </p:pic>
      <p:sp>
        <p:nvSpPr>
          <p:cNvPr id="355" name="Google Shape;355;p39"/>
          <p:cNvSpPr txBox="1"/>
          <p:nvPr/>
        </p:nvSpPr>
        <p:spPr>
          <a:xfrm>
            <a:off x="5645325" y="4074875"/>
            <a:ext cx="30000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000">
                <a:solidFill>
                  <a:schemeClr val="lt1"/>
                </a:solidFill>
              </a:rPr>
              <a:t>El color azul representa la aplicación móvil, con un 85 % de efectividad y un 90 % de practicidad.</a:t>
            </a:r>
            <a:endParaRPr sz="1000">
              <a:solidFill>
                <a:schemeClr val="lt1"/>
              </a:solidFill>
            </a:endParaRPr>
          </a:p>
          <a:p>
            <a:pPr indent="0" lvl="0" marL="0" rtl="0" algn="l">
              <a:spcBef>
                <a:spcPts val="0"/>
              </a:spcBef>
              <a:spcAft>
                <a:spcPts val="0"/>
              </a:spcAft>
              <a:buNone/>
            </a:pPr>
            <a:r>
              <a:rPr lang="es" sz="1000">
                <a:solidFill>
                  <a:schemeClr val="lt1"/>
                </a:solidFill>
              </a:rPr>
              <a:t>El color naranja corresponde a la página web, con un 65 % de efectividad y un 70 % de practicidad.</a:t>
            </a:r>
            <a:endParaRPr sz="1000">
              <a:solidFill>
                <a:schemeClr val="lt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0"/>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361" name="Google Shape;361;p40"/>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
        <p:nvSpPr>
          <p:cNvPr id="362" name="Google Shape;362;p4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Alcance de Web vs Mobile</a:t>
            </a:r>
            <a:endParaRPr b="1"/>
          </a:p>
        </p:txBody>
      </p:sp>
      <p:sp>
        <p:nvSpPr>
          <p:cNvPr id="363" name="Google Shape;363;p40"/>
          <p:cNvSpPr txBox="1"/>
          <p:nvPr/>
        </p:nvSpPr>
        <p:spPr>
          <a:xfrm>
            <a:off x="317077" y="1233057"/>
            <a:ext cx="49581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a:solidFill>
                <a:schemeClr val="lt1"/>
              </a:solidFill>
              <a:latin typeface="Montserrat"/>
              <a:ea typeface="Montserrat"/>
              <a:cs typeface="Montserrat"/>
              <a:sym typeface="Montserrat"/>
            </a:endParaRPr>
          </a:p>
        </p:txBody>
      </p:sp>
      <p:sp>
        <p:nvSpPr>
          <p:cNvPr id="364" name="Google Shape;364;p40"/>
          <p:cNvSpPr txBox="1"/>
          <p:nvPr/>
        </p:nvSpPr>
        <p:spPr>
          <a:xfrm>
            <a:off x="5645325" y="4074875"/>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solidFill>
                <a:schemeClr val="lt1"/>
              </a:solidFill>
            </a:endParaRPr>
          </a:p>
        </p:txBody>
      </p:sp>
      <p:sp>
        <p:nvSpPr>
          <p:cNvPr id="365" name="Google Shape;365;p40"/>
          <p:cNvSpPr txBox="1"/>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t/>
            </a:r>
            <a:endParaRPr sz="3000">
              <a:solidFill>
                <a:srgbClr val="AF7B51"/>
              </a:solidFill>
              <a:latin typeface="Nunito"/>
              <a:ea typeface="Nunito"/>
              <a:cs typeface="Nunito"/>
              <a:sym typeface="Nunito"/>
            </a:endParaRPr>
          </a:p>
        </p:txBody>
      </p:sp>
      <p:graphicFrame>
        <p:nvGraphicFramePr>
          <p:cNvPr id="366" name="Google Shape;366;p40"/>
          <p:cNvGraphicFramePr/>
          <p:nvPr/>
        </p:nvGraphicFramePr>
        <p:xfrm>
          <a:off x="313338" y="1437750"/>
          <a:ext cx="3000000" cy="3000000"/>
        </p:xfrm>
        <a:graphic>
          <a:graphicData uri="http://schemas.openxmlformats.org/drawingml/2006/table">
            <a:tbl>
              <a:tblPr>
                <a:noFill/>
                <a:tableStyleId>{66ACE348-82FC-406F-AD7B-E9AEA4884DA5}</a:tableStyleId>
              </a:tblPr>
              <a:tblGrid>
                <a:gridCol w="1154250"/>
                <a:gridCol w="3371975"/>
                <a:gridCol w="3006500"/>
                <a:gridCol w="984600"/>
              </a:tblGrid>
              <a:tr h="333750">
                <a:tc>
                  <a:txBody>
                    <a:bodyPr/>
                    <a:lstStyle/>
                    <a:p>
                      <a:pPr indent="0" lvl="0" marL="0" rtl="0" algn="ctr">
                        <a:lnSpc>
                          <a:spcPct val="115000"/>
                        </a:lnSpc>
                        <a:spcBef>
                          <a:spcPts val="0"/>
                        </a:spcBef>
                        <a:spcAft>
                          <a:spcPts val="0"/>
                        </a:spcAft>
                        <a:buNone/>
                      </a:pPr>
                      <a:r>
                        <a:rPr b="1" lang="es" sz="1200">
                          <a:solidFill>
                            <a:schemeClr val="lt1"/>
                          </a:solidFill>
                          <a:latin typeface="Nunito"/>
                          <a:ea typeface="Nunito"/>
                          <a:cs typeface="Nunito"/>
                          <a:sym typeface="Nunito"/>
                        </a:rPr>
                        <a:t>Módulo</a:t>
                      </a:r>
                      <a:endParaRPr b="1" sz="1200">
                        <a:solidFill>
                          <a:schemeClr val="lt1"/>
                        </a:solidFill>
                        <a:latin typeface="Nunito"/>
                        <a:ea typeface="Nunito"/>
                        <a:cs typeface="Nunito"/>
                        <a:sym typeface="Nunito"/>
                      </a:endParaRPr>
                    </a:p>
                  </a:txBody>
                  <a:tcPr marT="91425" marB="91425" marR="91425" marL="91425"/>
                </a:tc>
                <a:tc>
                  <a:txBody>
                    <a:bodyPr/>
                    <a:lstStyle/>
                    <a:p>
                      <a:pPr indent="0" lvl="0" marL="0" rtl="0" algn="ctr">
                        <a:lnSpc>
                          <a:spcPct val="115000"/>
                        </a:lnSpc>
                        <a:spcBef>
                          <a:spcPts val="0"/>
                        </a:spcBef>
                        <a:spcAft>
                          <a:spcPts val="0"/>
                        </a:spcAft>
                        <a:buNone/>
                      </a:pPr>
                      <a:r>
                        <a:rPr lang="es">
                          <a:solidFill>
                            <a:schemeClr val="lt1"/>
                          </a:solidFill>
                          <a:latin typeface="Nunito SemiBold"/>
                          <a:ea typeface="Nunito SemiBold"/>
                          <a:cs typeface="Nunito SemiBold"/>
                          <a:sym typeface="Nunito SemiBold"/>
                        </a:rPr>
                        <a:t>Versión Web (Escritorio)</a:t>
                      </a:r>
                      <a:endParaRPr>
                        <a:solidFill>
                          <a:schemeClr val="lt1"/>
                        </a:solidFill>
                        <a:latin typeface="Nunito SemiBold"/>
                        <a:ea typeface="Nunito SemiBold"/>
                        <a:cs typeface="Nunito SemiBold"/>
                        <a:sym typeface="Nunito SemiBold"/>
                      </a:endParaRPr>
                    </a:p>
                  </a:txBody>
                  <a:tcPr marT="91425" marB="91425" marR="91425" marL="91425"/>
                </a:tc>
                <a:tc>
                  <a:txBody>
                    <a:bodyPr/>
                    <a:lstStyle/>
                    <a:p>
                      <a:pPr indent="0" lvl="0" marL="0" rtl="0" algn="ctr">
                        <a:lnSpc>
                          <a:spcPct val="115000"/>
                        </a:lnSpc>
                        <a:spcBef>
                          <a:spcPts val="0"/>
                        </a:spcBef>
                        <a:spcAft>
                          <a:spcPts val="0"/>
                        </a:spcAft>
                        <a:buNone/>
                      </a:pPr>
                      <a:r>
                        <a:rPr lang="es">
                          <a:solidFill>
                            <a:schemeClr val="lt1"/>
                          </a:solidFill>
                          <a:latin typeface="Nunito SemiBold"/>
                          <a:ea typeface="Nunito SemiBold"/>
                          <a:cs typeface="Nunito SemiBold"/>
                          <a:sym typeface="Nunito SemiBold"/>
                        </a:rPr>
                        <a:t>Versión Móvil (App)</a:t>
                      </a:r>
                      <a:endParaRPr>
                        <a:solidFill>
                          <a:schemeClr val="lt1"/>
                        </a:solidFill>
                        <a:latin typeface="Nunito SemiBold"/>
                        <a:ea typeface="Nunito SemiBold"/>
                        <a:cs typeface="Nunito SemiBold"/>
                        <a:sym typeface="Nunito SemiBold"/>
                      </a:endParaRPr>
                    </a:p>
                  </a:txBody>
                  <a:tcPr marT="91425" marB="91425" marR="91425" marL="91425"/>
                </a:tc>
                <a:tc>
                  <a:txBody>
                    <a:bodyPr/>
                    <a:lstStyle/>
                    <a:p>
                      <a:pPr indent="0" lvl="0" marL="0" rtl="0" algn="ctr">
                        <a:lnSpc>
                          <a:spcPct val="115000"/>
                        </a:lnSpc>
                        <a:spcBef>
                          <a:spcPts val="0"/>
                        </a:spcBef>
                        <a:spcAft>
                          <a:spcPts val="0"/>
                        </a:spcAft>
                        <a:buNone/>
                      </a:pPr>
                      <a:r>
                        <a:rPr b="1" lang="es" sz="1200">
                          <a:solidFill>
                            <a:schemeClr val="lt1"/>
                          </a:solidFill>
                          <a:latin typeface="Merriweather"/>
                          <a:ea typeface="Merriweather"/>
                          <a:cs typeface="Merriweather"/>
                          <a:sym typeface="Merriweather"/>
                        </a:rPr>
                        <a:t>Prioridad</a:t>
                      </a:r>
                      <a:endParaRPr b="1" sz="1200">
                        <a:solidFill>
                          <a:schemeClr val="lt1"/>
                        </a:solidFill>
                        <a:latin typeface="Merriweather"/>
                        <a:ea typeface="Merriweather"/>
                        <a:cs typeface="Merriweather"/>
                        <a:sym typeface="Merriweather"/>
                      </a:endParaRPr>
                    </a:p>
                  </a:txBody>
                  <a:tcPr marT="91425" marB="91425" marR="91425" marL="91425"/>
                </a:tc>
              </a:tr>
              <a:tr h="407600">
                <a:tc>
                  <a:txBody>
                    <a:bodyPr/>
                    <a:lstStyle/>
                    <a:p>
                      <a:pPr indent="0" lvl="0" marL="0" rtl="0" algn="l">
                        <a:spcBef>
                          <a:spcPts val="0"/>
                        </a:spcBef>
                        <a:spcAft>
                          <a:spcPts val="0"/>
                        </a:spcAft>
                        <a:buNone/>
                      </a:pPr>
                      <a:r>
                        <a:rPr b="1" lang="es" sz="1200">
                          <a:solidFill>
                            <a:schemeClr val="lt1"/>
                          </a:solidFill>
                          <a:latin typeface="Nunito"/>
                          <a:ea typeface="Nunito"/>
                          <a:cs typeface="Nunito"/>
                          <a:sym typeface="Nunito"/>
                        </a:rPr>
                        <a:t>Usuarios</a:t>
                      </a:r>
                      <a:endParaRPr b="1" sz="1200">
                        <a:solidFill>
                          <a:schemeClr val="lt1"/>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s" sz="1100">
                          <a:solidFill>
                            <a:schemeClr val="lt1"/>
                          </a:solidFill>
                          <a:latin typeface="Nunito SemiBold"/>
                          <a:ea typeface="Nunito SemiBold"/>
                          <a:cs typeface="Nunito SemiBold"/>
                          <a:sym typeface="Nunito SemiBold"/>
                        </a:rPr>
                        <a:t>Gestión completa, Roles, Permisos, Edición masiva</a:t>
                      </a:r>
                      <a:endParaRPr sz="1100">
                        <a:solidFill>
                          <a:schemeClr val="lt1"/>
                        </a:solidFill>
                        <a:latin typeface="Nunito SemiBold"/>
                        <a:ea typeface="Nunito SemiBold"/>
                        <a:cs typeface="Nunito SemiBold"/>
                        <a:sym typeface="Nunito SemiBold"/>
                      </a:endParaRPr>
                    </a:p>
                  </a:txBody>
                  <a:tcPr marT="91425" marB="91425" marR="91425" marL="91425"/>
                </a:tc>
                <a:tc>
                  <a:txBody>
                    <a:bodyPr/>
                    <a:lstStyle/>
                    <a:p>
                      <a:pPr indent="0" lvl="0" marL="0" rtl="0" algn="l">
                        <a:spcBef>
                          <a:spcPts val="0"/>
                        </a:spcBef>
                        <a:spcAft>
                          <a:spcPts val="0"/>
                        </a:spcAft>
                        <a:buNone/>
                      </a:pPr>
                      <a:r>
                        <a:rPr lang="es" sz="1100">
                          <a:solidFill>
                            <a:schemeClr val="lt1"/>
                          </a:solidFill>
                          <a:latin typeface="Nunito SemiBold"/>
                          <a:ea typeface="Nunito SemiBold"/>
                          <a:cs typeface="Nunito SemiBold"/>
                          <a:sym typeface="Nunito SemiBold"/>
                        </a:rPr>
                        <a:t>Consulta rápida, Activar/Desactivar usuario</a:t>
                      </a:r>
                      <a:endParaRPr sz="1100">
                        <a:solidFill>
                          <a:schemeClr val="lt1"/>
                        </a:solidFill>
                        <a:latin typeface="Nunito SemiBold"/>
                        <a:ea typeface="Nunito SemiBold"/>
                        <a:cs typeface="Nunito SemiBold"/>
                        <a:sym typeface="Nunito SemiBold"/>
                      </a:endParaRPr>
                    </a:p>
                  </a:txBody>
                  <a:tcPr marT="91425" marB="91425" marR="91425" marL="91425"/>
                </a:tc>
                <a:tc>
                  <a:txBody>
                    <a:bodyPr/>
                    <a:lstStyle/>
                    <a:p>
                      <a:pPr indent="0" lvl="0" marL="0" rtl="0" algn="l">
                        <a:spcBef>
                          <a:spcPts val="0"/>
                        </a:spcBef>
                        <a:spcAft>
                          <a:spcPts val="0"/>
                        </a:spcAft>
                        <a:buNone/>
                      </a:pPr>
                      <a:r>
                        <a:rPr lang="es" sz="1100">
                          <a:solidFill>
                            <a:schemeClr val="lt1"/>
                          </a:solidFill>
                          <a:latin typeface="Merriweather"/>
                          <a:ea typeface="Merriweather"/>
                          <a:cs typeface="Merriweather"/>
                          <a:sym typeface="Merriweather"/>
                        </a:rPr>
                        <a:t>Media</a:t>
                      </a:r>
                      <a:endParaRPr sz="1100">
                        <a:solidFill>
                          <a:schemeClr val="lt1"/>
                        </a:solidFill>
                        <a:latin typeface="Merriweather"/>
                        <a:ea typeface="Merriweather"/>
                        <a:cs typeface="Merriweather"/>
                        <a:sym typeface="Merriweather"/>
                      </a:endParaRPr>
                    </a:p>
                  </a:txBody>
                  <a:tcPr marT="91425" marB="91425" marR="91425" marL="91425"/>
                </a:tc>
              </a:tr>
              <a:tr h="407600">
                <a:tc>
                  <a:txBody>
                    <a:bodyPr/>
                    <a:lstStyle/>
                    <a:p>
                      <a:pPr indent="0" lvl="0" marL="0" rtl="0" algn="l">
                        <a:spcBef>
                          <a:spcPts val="0"/>
                        </a:spcBef>
                        <a:spcAft>
                          <a:spcPts val="0"/>
                        </a:spcAft>
                        <a:buNone/>
                      </a:pPr>
                      <a:r>
                        <a:rPr b="1" lang="es" sz="1200">
                          <a:solidFill>
                            <a:schemeClr val="lt1"/>
                          </a:solidFill>
                          <a:latin typeface="Nunito"/>
                          <a:ea typeface="Nunito"/>
                          <a:cs typeface="Nunito"/>
                          <a:sym typeface="Nunito"/>
                        </a:rPr>
                        <a:t>Clientes</a:t>
                      </a:r>
                      <a:endParaRPr b="1" sz="1200">
                        <a:solidFill>
                          <a:schemeClr val="lt1"/>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s" sz="1100">
                          <a:solidFill>
                            <a:schemeClr val="lt1"/>
                          </a:solidFill>
                          <a:latin typeface="Nunito SemiBold"/>
                          <a:ea typeface="Nunito SemiBold"/>
                          <a:cs typeface="Nunito SemiBold"/>
                          <a:sym typeface="Nunito SemiBold"/>
                        </a:rPr>
                        <a:t>Registro detallado, Historial completo, Exportación</a:t>
                      </a:r>
                      <a:endParaRPr sz="1100">
                        <a:solidFill>
                          <a:schemeClr val="lt1"/>
                        </a:solidFill>
                        <a:latin typeface="Nunito SemiBold"/>
                        <a:ea typeface="Nunito SemiBold"/>
                        <a:cs typeface="Nunito SemiBold"/>
                        <a:sym typeface="Nunito SemiBold"/>
                      </a:endParaRPr>
                    </a:p>
                  </a:txBody>
                  <a:tcPr marT="91425" marB="91425" marR="91425" marL="91425"/>
                </a:tc>
                <a:tc>
                  <a:txBody>
                    <a:bodyPr/>
                    <a:lstStyle/>
                    <a:p>
                      <a:pPr indent="0" lvl="0" marL="0" rtl="0" algn="l">
                        <a:spcBef>
                          <a:spcPts val="0"/>
                        </a:spcBef>
                        <a:spcAft>
                          <a:spcPts val="0"/>
                        </a:spcAft>
                        <a:buNone/>
                      </a:pPr>
                      <a:r>
                        <a:rPr lang="es" sz="1100">
                          <a:solidFill>
                            <a:schemeClr val="lt1"/>
                          </a:solidFill>
                          <a:latin typeface="Nunito SemiBold"/>
                          <a:ea typeface="Nunito SemiBold"/>
                          <a:cs typeface="Nunito SemiBold"/>
                          <a:sym typeface="Nunito SemiBold"/>
                        </a:rPr>
                        <a:t>Consulta rápida, Llamar / WhatsApp directo</a:t>
                      </a:r>
                      <a:endParaRPr sz="1100">
                        <a:solidFill>
                          <a:schemeClr val="lt1"/>
                        </a:solidFill>
                        <a:latin typeface="Nunito SemiBold"/>
                        <a:ea typeface="Nunito SemiBold"/>
                        <a:cs typeface="Nunito SemiBold"/>
                        <a:sym typeface="Nunito SemiBold"/>
                      </a:endParaRPr>
                    </a:p>
                  </a:txBody>
                  <a:tcPr marT="91425" marB="91425" marR="91425" marL="91425"/>
                </a:tc>
                <a:tc>
                  <a:txBody>
                    <a:bodyPr/>
                    <a:lstStyle/>
                    <a:p>
                      <a:pPr indent="0" lvl="0" marL="0" rtl="0" algn="l">
                        <a:spcBef>
                          <a:spcPts val="0"/>
                        </a:spcBef>
                        <a:spcAft>
                          <a:spcPts val="0"/>
                        </a:spcAft>
                        <a:buNone/>
                      </a:pPr>
                      <a:r>
                        <a:rPr lang="es" sz="1100">
                          <a:solidFill>
                            <a:schemeClr val="lt1"/>
                          </a:solidFill>
                          <a:latin typeface="Merriweather"/>
                          <a:ea typeface="Merriweather"/>
                          <a:cs typeface="Merriweather"/>
                          <a:sym typeface="Merriweather"/>
                        </a:rPr>
                        <a:t>Media</a:t>
                      </a:r>
                      <a:endParaRPr sz="1100">
                        <a:solidFill>
                          <a:schemeClr val="lt1"/>
                        </a:solidFill>
                        <a:latin typeface="Merriweather"/>
                        <a:ea typeface="Merriweather"/>
                        <a:cs typeface="Merriweather"/>
                        <a:sym typeface="Merriweather"/>
                      </a:endParaRPr>
                    </a:p>
                  </a:txBody>
                  <a:tcPr marT="91425" marB="91425" marR="91425" marL="91425"/>
                </a:tc>
              </a:tr>
              <a:tr h="422350">
                <a:tc>
                  <a:txBody>
                    <a:bodyPr/>
                    <a:lstStyle/>
                    <a:p>
                      <a:pPr indent="0" lvl="0" marL="0" rtl="0" algn="l">
                        <a:spcBef>
                          <a:spcPts val="0"/>
                        </a:spcBef>
                        <a:spcAft>
                          <a:spcPts val="0"/>
                        </a:spcAft>
                        <a:buNone/>
                      </a:pPr>
                      <a:r>
                        <a:rPr b="1" lang="es" sz="1200">
                          <a:solidFill>
                            <a:schemeClr val="lt1"/>
                          </a:solidFill>
                          <a:latin typeface="Nunito"/>
                          <a:ea typeface="Nunito"/>
                          <a:cs typeface="Nunito"/>
                          <a:sym typeface="Nunito"/>
                        </a:rPr>
                        <a:t>Mantenimiento</a:t>
                      </a:r>
                      <a:endParaRPr b="1" sz="1200">
                        <a:solidFill>
                          <a:schemeClr val="lt1"/>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s" sz="1100">
                          <a:solidFill>
                            <a:schemeClr val="lt1"/>
                          </a:solidFill>
                          <a:latin typeface="Nunito SemiBold"/>
                          <a:ea typeface="Nunito SemiBold"/>
                          <a:cs typeface="Nunito SemiBold"/>
                          <a:sym typeface="Nunito SemiBold"/>
                        </a:rPr>
                        <a:t>Configuración completa, Asignación masiva, Programación</a:t>
                      </a:r>
                      <a:endParaRPr sz="1100">
                        <a:solidFill>
                          <a:schemeClr val="lt1"/>
                        </a:solidFill>
                        <a:latin typeface="Nunito SemiBold"/>
                        <a:ea typeface="Nunito SemiBold"/>
                        <a:cs typeface="Nunito SemiBold"/>
                        <a:sym typeface="Nunito SemiBold"/>
                      </a:endParaRPr>
                    </a:p>
                  </a:txBody>
                  <a:tcPr marT="91425" marB="91425" marR="91425" marL="91425"/>
                </a:tc>
                <a:tc>
                  <a:txBody>
                    <a:bodyPr/>
                    <a:lstStyle/>
                    <a:p>
                      <a:pPr indent="0" lvl="0" marL="0" rtl="0" algn="l">
                        <a:spcBef>
                          <a:spcPts val="0"/>
                        </a:spcBef>
                        <a:spcAft>
                          <a:spcPts val="0"/>
                        </a:spcAft>
                        <a:buNone/>
                      </a:pPr>
                      <a:r>
                        <a:rPr lang="es" sz="1100">
                          <a:solidFill>
                            <a:schemeClr val="lt1"/>
                          </a:solidFill>
                          <a:latin typeface="Nunito SemiBold"/>
                          <a:ea typeface="Nunito SemiBold"/>
                          <a:cs typeface="Nunito SemiBold"/>
                          <a:sym typeface="Nunito SemiBold"/>
                        </a:rPr>
                        <a:t>Ejecución de tareas, Cambio de estado, Foto de evidencia</a:t>
                      </a:r>
                      <a:endParaRPr sz="1100">
                        <a:solidFill>
                          <a:schemeClr val="lt1"/>
                        </a:solidFill>
                        <a:latin typeface="Nunito SemiBold"/>
                        <a:ea typeface="Nunito SemiBold"/>
                        <a:cs typeface="Nunito SemiBold"/>
                        <a:sym typeface="Nunito SemiBold"/>
                      </a:endParaRPr>
                    </a:p>
                  </a:txBody>
                  <a:tcPr marT="91425" marB="91425" marR="91425" marL="91425"/>
                </a:tc>
                <a:tc>
                  <a:txBody>
                    <a:bodyPr/>
                    <a:lstStyle/>
                    <a:p>
                      <a:pPr indent="0" lvl="0" marL="0" rtl="0" algn="l">
                        <a:spcBef>
                          <a:spcPts val="0"/>
                        </a:spcBef>
                        <a:spcAft>
                          <a:spcPts val="0"/>
                        </a:spcAft>
                        <a:buNone/>
                      </a:pPr>
                      <a:r>
                        <a:rPr lang="es" sz="1100">
                          <a:latin typeface="Merriweather"/>
                          <a:ea typeface="Merriweather"/>
                          <a:cs typeface="Merriweather"/>
                          <a:sym typeface="Merriweather"/>
                        </a:rPr>
                        <a:t> </a:t>
                      </a:r>
                      <a:r>
                        <a:rPr lang="es" sz="1100">
                          <a:solidFill>
                            <a:schemeClr val="lt1"/>
                          </a:solidFill>
                          <a:latin typeface="Merriweather"/>
                          <a:ea typeface="Merriweather"/>
                          <a:cs typeface="Merriweather"/>
                          <a:sym typeface="Merriweather"/>
                        </a:rPr>
                        <a:t>Alta</a:t>
                      </a:r>
                      <a:endParaRPr sz="1100">
                        <a:solidFill>
                          <a:schemeClr val="lt1"/>
                        </a:solidFill>
                        <a:latin typeface="Merriweather"/>
                        <a:ea typeface="Merriweather"/>
                        <a:cs typeface="Merriweather"/>
                        <a:sym typeface="Merriweather"/>
                      </a:endParaRPr>
                    </a:p>
                  </a:txBody>
                  <a:tcPr marT="91425" marB="91425" marR="91425" marL="91425"/>
                </a:tc>
              </a:tr>
              <a:tr h="595775">
                <a:tc>
                  <a:txBody>
                    <a:bodyPr/>
                    <a:lstStyle/>
                    <a:p>
                      <a:pPr indent="0" lvl="0" marL="0" rtl="0" algn="l">
                        <a:spcBef>
                          <a:spcPts val="0"/>
                        </a:spcBef>
                        <a:spcAft>
                          <a:spcPts val="0"/>
                        </a:spcAft>
                        <a:buNone/>
                      </a:pPr>
                      <a:r>
                        <a:rPr b="1" lang="es" sz="1200">
                          <a:solidFill>
                            <a:schemeClr val="lt1"/>
                          </a:solidFill>
                          <a:latin typeface="Nunito"/>
                          <a:ea typeface="Nunito"/>
                          <a:cs typeface="Nunito"/>
                          <a:sym typeface="Nunito"/>
                        </a:rPr>
                        <a:t>Alertas</a:t>
                      </a:r>
                      <a:endParaRPr b="1" sz="1200">
                        <a:solidFill>
                          <a:schemeClr val="lt1"/>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es" sz="1100">
                          <a:solidFill>
                            <a:schemeClr val="lt1"/>
                          </a:solidFill>
                          <a:latin typeface="Nunito SemiBold"/>
                          <a:ea typeface="Nunito SemiBold"/>
                          <a:cs typeface="Nunito SemiBold"/>
                          <a:sym typeface="Nunito SemiBold"/>
                        </a:rPr>
                        <a:t>Configuración de reglas, Logs históricos</a:t>
                      </a:r>
                      <a:endParaRPr sz="1100">
                        <a:solidFill>
                          <a:schemeClr val="lt1"/>
                        </a:solidFill>
                        <a:latin typeface="Nunito SemiBold"/>
                        <a:ea typeface="Nunito SemiBold"/>
                        <a:cs typeface="Nunito SemiBold"/>
                        <a:sym typeface="Nunito SemiBold"/>
                      </a:endParaRPr>
                    </a:p>
                  </a:txBody>
                  <a:tcPr marT="91425" marB="91425" marR="91425" marL="91425"/>
                </a:tc>
                <a:tc>
                  <a:txBody>
                    <a:bodyPr/>
                    <a:lstStyle/>
                    <a:p>
                      <a:pPr indent="0" lvl="0" marL="0" rtl="0" algn="l">
                        <a:spcBef>
                          <a:spcPts val="0"/>
                        </a:spcBef>
                        <a:spcAft>
                          <a:spcPts val="0"/>
                        </a:spcAft>
                        <a:buNone/>
                      </a:pPr>
                      <a:r>
                        <a:rPr lang="es" sz="1100">
                          <a:solidFill>
                            <a:schemeClr val="lt1"/>
                          </a:solidFill>
                          <a:latin typeface="Nunito SemiBold"/>
                          <a:ea typeface="Nunito SemiBold"/>
                          <a:cs typeface="Nunito SemiBold"/>
                          <a:sym typeface="Nunito SemiBold"/>
                        </a:rPr>
                        <a:t>Notificaciones Push, Avisos críticos en tiempo real</a:t>
                      </a:r>
                      <a:endParaRPr sz="1100">
                        <a:solidFill>
                          <a:schemeClr val="lt1"/>
                        </a:solidFill>
                        <a:latin typeface="Nunito SemiBold"/>
                        <a:ea typeface="Nunito SemiBold"/>
                        <a:cs typeface="Nunito SemiBold"/>
                        <a:sym typeface="Nunito SemiBold"/>
                      </a:endParaRPr>
                    </a:p>
                  </a:txBody>
                  <a:tcPr marT="91425" marB="91425" marR="91425" marL="91425"/>
                </a:tc>
                <a:tc>
                  <a:txBody>
                    <a:bodyPr/>
                    <a:lstStyle/>
                    <a:p>
                      <a:pPr indent="0" lvl="0" marL="0" rtl="0" algn="l">
                        <a:spcBef>
                          <a:spcPts val="0"/>
                        </a:spcBef>
                        <a:spcAft>
                          <a:spcPts val="0"/>
                        </a:spcAft>
                        <a:buNone/>
                      </a:pPr>
                      <a:r>
                        <a:rPr lang="es" sz="1100">
                          <a:solidFill>
                            <a:schemeClr val="lt1"/>
                          </a:solidFill>
                          <a:latin typeface="Merriweather"/>
                          <a:ea typeface="Merriweather"/>
                          <a:cs typeface="Merriweather"/>
                          <a:sym typeface="Merriweather"/>
                        </a:rPr>
                        <a:t>Alta</a:t>
                      </a:r>
                      <a:endParaRPr sz="1100">
                        <a:solidFill>
                          <a:schemeClr val="lt1"/>
                        </a:solidFill>
                        <a:latin typeface="Merriweather"/>
                        <a:ea typeface="Merriweather"/>
                        <a:cs typeface="Merriweather"/>
                        <a:sym typeface="Merriweather"/>
                      </a:endParaRPr>
                    </a:p>
                  </a:txBody>
                  <a:tcPr marT="91425" marB="91425" marR="91425" marL="91425"/>
                </a:tc>
              </a:tr>
              <a:tr h="390375">
                <a:tc>
                  <a:txBody>
                    <a:bodyPr/>
                    <a:lstStyle/>
                    <a:p>
                      <a:pPr indent="0" lvl="0" marL="0" rtl="0" algn="l">
                        <a:spcBef>
                          <a:spcPts val="0"/>
                        </a:spcBef>
                        <a:spcAft>
                          <a:spcPts val="0"/>
                        </a:spcAft>
                        <a:buNone/>
                      </a:pPr>
                      <a:r>
                        <a:t/>
                      </a:r>
                      <a:endParaRPr b="1" sz="900">
                        <a:solidFill>
                          <a:schemeClr val="lt1"/>
                        </a:solidFill>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t/>
                      </a:r>
                      <a:endParaRPr sz="800">
                        <a:solidFill>
                          <a:schemeClr val="lt1"/>
                        </a:solidFill>
                        <a:latin typeface="Nunito SemiBold"/>
                        <a:ea typeface="Nunito SemiBold"/>
                        <a:cs typeface="Nunito SemiBold"/>
                        <a:sym typeface="Nunito SemiBold"/>
                      </a:endParaRPr>
                    </a:p>
                  </a:txBody>
                  <a:tcPr marT="91425" marB="91425" marR="91425" marL="91425"/>
                </a:tc>
                <a:tc>
                  <a:txBody>
                    <a:bodyPr/>
                    <a:lstStyle/>
                    <a:p>
                      <a:pPr indent="0" lvl="0" marL="0" rtl="0" algn="l">
                        <a:spcBef>
                          <a:spcPts val="0"/>
                        </a:spcBef>
                        <a:spcAft>
                          <a:spcPts val="0"/>
                        </a:spcAft>
                        <a:buNone/>
                      </a:pPr>
                      <a:r>
                        <a:t/>
                      </a:r>
                      <a:endParaRPr sz="800">
                        <a:latin typeface="Nunito SemiBold"/>
                        <a:ea typeface="Nunito SemiBold"/>
                        <a:cs typeface="Nunito SemiBold"/>
                        <a:sym typeface="Nunito SemiBold"/>
                      </a:endParaRPr>
                    </a:p>
                  </a:txBody>
                  <a:tcPr marT="91425" marB="91425" marR="91425" marL="91425"/>
                </a:tc>
                <a:tc>
                  <a:txBody>
                    <a:bodyPr/>
                    <a:lstStyle/>
                    <a:p>
                      <a:pPr indent="0" lvl="0" marL="0" rtl="0" algn="l">
                        <a:spcBef>
                          <a:spcPts val="0"/>
                        </a:spcBef>
                        <a:spcAft>
                          <a:spcPts val="0"/>
                        </a:spcAft>
                        <a:buNone/>
                      </a:pPr>
                      <a:r>
                        <a:t/>
                      </a:r>
                      <a:endParaRPr sz="800">
                        <a:latin typeface="Merriweather"/>
                        <a:ea typeface="Merriweather"/>
                        <a:cs typeface="Merriweather"/>
                        <a:sym typeface="Merriweather"/>
                      </a:endParaRPr>
                    </a:p>
                  </a:txBody>
                  <a:tcPr marT="91425" marB="91425" marR="91425" marL="91425"/>
                </a:tc>
              </a:tr>
              <a:tr h="278100">
                <a:tc>
                  <a:txBody>
                    <a:bodyPr/>
                    <a:lstStyle/>
                    <a:p>
                      <a:pPr indent="0" lvl="0" marL="0" rtl="0" algn="l">
                        <a:spcBef>
                          <a:spcPts val="0"/>
                        </a:spcBef>
                        <a:spcAft>
                          <a:spcPts val="0"/>
                        </a:spcAft>
                        <a:buNone/>
                      </a:pPr>
                      <a:r>
                        <a:t/>
                      </a:r>
                      <a:endParaRPr b="1" sz="500">
                        <a:latin typeface="Merriweather"/>
                        <a:ea typeface="Merriweather"/>
                        <a:cs typeface="Merriweather"/>
                        <a:sym typeface="Merriweather"/>
                      </a:endParaRPr>
                    </a:p>
                  </a:txBody>
                  <a:tcPr marT="91425" marB="91425" marR="91425" marL="91425"/>
                </a:tc>
                <a:tc>
                  <a:txBody>
                    <a:bodyPr/>
                    <a:lstStyle/>
                    <a:p>
                      <a:pPr indent="0" lvl="0" marL="0" rtl="0" algn="l">
                        <a:spcBef>
                          <a:spcPts val="0"/>
                        </a:spcBef>
                        <a:spcAft>
                          <a:spcPts val="0"/>
                        </a:spcAft>
                        <a:buNone/>
                      </a:pPr>
                      <a:r>
                        <a:t/>
                      </a:r>
                      <a:endParaRPr sz="800">
                        <a:latin typeface="Nunito SemiBold"/>
                        <a:ea typeface="Nunito SemiBold"/>
                        <a:cs typeface="Nunito SemiBold"/>
                        <a:sym typeface="Nunito SemiBold"/>
                      </a:endParaRPr>
                    </a:p>
                  </a:txBody>
                  <a:tcPr marT="91425" marB="91425" marR="91425" marL="91425"/>
                </a:tc>
                <a:tc>
                  <a:txBody>
                    <a:bodyPr/>
                    <a:lstStyle/>
                    <a:p>
                      <a:pPr indent="0" lvl="0" marL="0" rtl="0" algn="l">
                        <a:spcBef>
                          <a:spcPts val="0"/>
                        </a:spcBef>
                        <a:spcAft>
                          <a:spcPts val="0"/>
                        </a:spcAft>
                        <a:buNone/>
                      </a:pPr>
                      <a:r>
                        <a:t/>
                      </a:r>
                      <a:endParaRPr sz="800">
                        <a:latin typeface="Nunito SemiBold"/>
                        <a:ea typeface="Nunito SemiBold"/>
                        <a:cs typeface="Nunito SemiBold"/>
                        <a:sym typeface="Nunito SemiBold"/>
                      </a:endParaRPr>
                    </a:p>
                  </a:txBody>
                  <a:tcPr marT="91425" marB="91425" marR="91425" marL="91425"/>
                </a:tc>
                <a:tc>
                  <a:txBody>
                    <a:bodyPr/>
                    <a:lstStyle/>
                    <a:p>
                      <a:pPr indent="0" lvl="0" marL="0" rtl="0" algn="l">
                        <a:spcBef>
                          <a:spcPts val="0"/>
                        </a:spcBef>
                        <a:spcAft>
                          <a:spcPts val="0"/>
                        </a:spcAft>
                        <a:buNone/>
                      </a:pPr>
                      <a:r>
                        <a:rPr lang="es" sz="800">
                          <a:latin typeface="Merriweather"/>
                          <a:ea typeface="Merriweather"/>
                          <a:cs typeface="Merriweather"/>
                          <a:sym typeface="Merriweather"/>
                        </a:rPr>
                        <a:t> </a:t>
                      </a:r>
                      <a:endParaRPr sz="800">
                        <a:latin typeface="Merriweather"/>
                        <a:ea typeface="Merriweather"/>
                        <a:cs typeface="Merriweather"/>
                        <a:sym typeface="Merriweather"/>
                      </a:endParaRPr>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1"/>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372" name="Google Shape;372;p41"/>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
        <p:nvSpPr>
          <p:cNvPr id="373" name="Google Shape;373;p4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Mobile</a:t>
            </a:r>
            <a:endParaRPr b="1"/>
          </a:p>
        </p:txBody>
      </p:sp>
      <p:pic>
        <p:nvPicPr>
          <p:cNvPr id="374" name="Google Shape;374;p41"/>
          <p:cNvPicPr preferRelativeResize="0"/>
          <p:nvPr/>
        </p:nvPicPr>
        <p:blipFill>
          <a:blip r:embed="rId4">
            <a:alphaModFix/>
          </a:blip>
          <a:stretch>
            <a:fillRect/>
          </a:stretch>
        </p:blipFill>
        <p:spPr>
          <a:xfrm>
            <a:off x="1344475" y="1117250"/>
            <a:ext cx="6173498" cy="38589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2"/>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380" name="Google Shape;380;p42"/>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
        <p:nvSpPr>
          <p:cNvPr id="381" name="Google Shape;381;p4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Mobile</a:t>
            </a:r>
            <a:endParaRPr b="1"/>
          </a:p>
        </p:txBody>
      </p:sp>
      <p:pic>
        <p:nvPicPr>
          <p:cNvPr id="382" name="Google Shape;382;p42"/>
          <p:cNvPicPr preferRelativeResize="0"/>
          <p:nvPr/>
        </p:nvPicPr>
        <p:blipFill>
          <a:blip r:embed="rId4">
            <a:alphaModFix/>
          </a:blip>
          <a:stretch>
            <a:fillRect/>
          </a:stretch>
        </p:blipFill>
        <p:spPr>
          <a:xfrm>
            <a:off x="121018" y="1390225"/>
            <a:ext cx="1286100" cy="2884275"/>
          </a:xfrm>
          <a:prstGeom prst="rect">
            <a:avLst/>
          </a:prstGeom>
          <a:noFill/>
          <a:ln>
            <a:noFill/>
          </a:ln>
        </p:spPr>
      </p:pic>
      <p:pic>
        <p:nvPicPr>
          <p:cNvPr id="383" name="Google Shape;383;p42"/>
          <p:cNvPicPr preferRelativeResize="0"/>
          <p:nvPr/>
        </p:nvPicPr>
        <p:blipFill>
          <a:blip r:embed="rId5">
            <a:alphaModFix/>
          </a:blip>
          <a:stretch>
            <a:fillRect/>
          </a:stretch>
        </p:blipFill>
        <p:spPr>
          <a:xfrm>
            <a:off x="1407113" y="1401968"/>
            <a:ext cx="1286100" cy="2851205"/>
          </a:xfrm>
          <a:prstGeom prst="rect">
            <a:avLst/>
          </a:prstGeom>
          <a:noFill/>
          <a:ln>
            <a:noFill/>
          </a:ln>
        </p:spPr>
      </p:pic>
      <p:pic>
        <p:nvPicPr>
          <p:cNvPr id="384" name="Google Shape;384;p42"/>
          <p:cNvPicPr preferRelativeResize="0"/>
          <p:nvPr/>
        </p:nvPicPr>
        <p:blipFill>
          <a:blip r:embed="rId6">
            <a:alphaModFix/>
          </a:blip>
          <a:stretch>
            <a:fillRect/>
          </a:stretch>
        </p:blipFill>
        <p:spPr>
          <a:xfrm>
            <a:off x="2693212" y="1401975"/>
            <a:ext cx="1286100" cy="2865882"/>
          </a:xfrm>
          <a:prstGeom prst="rect">
            <a:avLst/>
          </a:prstGeom>
          <a:noFill/>
          <a:ln>
            <a:noFill/>
          </a:ln>
        </p:spPr>
      </p:pic>
      <p:pic>
        <p:nvPicPr>
          <p:cNvPr id="385" name="Google Shape;385;p42"/>
          <p:cNvPicPr preferRelativeResize="0"/>
          <p:nvPr/>
        </p:nvPicPr>
        <p:blipFill rotWithShape="1">
          <a:blip r:embed="rId7">
            <a:alphaModFix/>
          </a:blip>
          <a:srcRect b="-410" l="0" r="0" t="410"/>
          <a:stretch/>
        </p:blipFill>
        <p:spPr>
          <a:xfrm>
            <a:off x="3925112" y="1430296"/>
            <a:ext cx="1286100" cy="2855325"/>
          </a:xfrm>
          <a:prstGeom prst="rect">
            <a:avLst/>
          </a:prstGeom>
          <a:noFill/>
          <a:ln>
            <a:noFill/>
          </a:ln>
        </p:spPr>
      </p:pic>
      <p:pic>
        <p:nvPicPr>
          <p:cNvPr id="386" name="Google Shape;386;p42"/>
          <p:cNvPicPr preferRelativeResize="0"/>
          <p:nvPr/>
        </p:nvPicPr>
        <p:blipFill>
          <a:blip r:embed="rId8">
            <a:alphaModFix/>
          </a:blip>
          <a:stretch>
            <a:fillRect/>
          </a:stretch>
        </p:blipFill>
        <p:spPr>
          <a:xfrm>
            <a:off x="5211213" y="1430300"/>
            <a:ext cx="1286100" cy="2810608"/>
          </a:xfrm>
          <a:prstGeom prst="rect">
            <a:avLst/>
          </a:prstGeom>
          <a:noFill/>
          <a:ln>
            <a:noFill/>
          </a:ln>
        </p:spPr>
      </p:pic>
      <p:pic>
        <p:nvPicPr>
          <p:cNvPr id="387" name="Google Shape;387;p42"/>
          <p:cNvPicPr preferRelativeResize="0"/>
          <p:nvPr/>
        </p:nvPicPr>
        <p:blipFill>
          <a:blip r:embed="rId9">
            <a:alphaModFix/>
          </a:blip>
          <a:stretch>
            <a:fillRect/>
          </a:stretch>
        </p:blipFill>
        <p:spPr>
          <a:xfrm>
            <a:off x="6497312" y="1424775"/>
            <a:ext cx="1286100" cy="2866383"/>
          </a:xfrm>
          <a:prstGeom prst="rect">
            <a:avLst/>
          </a:prstGeom>
          <a:noFill/>
          <a:ln>
            <a:noFill/>
          </a:ln>
        </p:spPr>
      </p:pic>
      <p:pic>
        <p:nvPicPr>
          <p:cNvPr id="388" name="Google Shape;388;p42"/>
          <p:cNvPicPr preferRelativeResize="0"/>
          <p:nvPr/>
        </p:nvPicPr>
        <p:blipFill>
          <a:blip r:embed="rId10">
            <a:alphaModFix/>
          </a:blip>
          <a:stretch>
            <a:fillRect/>
          </a:stretch>
        </p:blipFill>
        <p:spPr>
          <a:xfrm>
            <a:off x="7664287" y="1415825"/>
            <a:ext cx="1358701" cy="288427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3"/>
          <p:cNvSpPr/>
          <p:nvPr/>
        </p:nvSpPr>
        <p:spPr>
          <a:xfrm>
            <a:off x="7200877" y="335025"/>
            <a:ext cx="963300" cy="728100"/>
          </a:xfrm>
          <a:prstGeom prst="rect">
            <a:avLst/>
          </a:prstGeom>
          <a:solidFill>
            <a:schemeClr val="lt2"/>
          </a:solidFill>
          <a:ln cap="flat" cmpd="sng" w="5100">
            <a:solidFill>
              <a:schemeClr val="dk2"/>
            </a:solidFill>
            <a:prstDash val="solid"/>
            <a:round/>
            <a:headEnd len="sm" w="sm" type="none"/>
            <a:tailEnd len="sm" w="sm" type="none"/>
          </a:ln>
        </p:spPr>
        <p:txBody>
          <a:bodyPr anchorCtr="0" anchor="ctr" bIns="49025" lIns="49025" spcFirstLastPara="1" rIns="49025" wrap="square" tIns="49025">
            <a:noAutofit/>
          </a:bodyPr>
          <a:lstStyle/>
          <a:p>
            <a:pPr indent="0" lvl="0" marL="0" rtl="0" algn="ctr">
              <a:spcBef>
                <a:spcPts val="0"/>
              </a:spcBef>
              <a:spcAft>
                <a:spcPts val="0"/>
              </a:spcAft>
              <a:buNone/>
            </a:pPr>
            <a:r>
              <a:t/>
            </a:r>
            <a:endParaRPr sz="751">
              <a:latin typeface="Lato"/>
              <a:ea typeface="Lato"/>
              <a:cs typeface="Lato"/>
              <a:sym typeface="Lato"/>
            </a:endParaRPr>
          </a:p>
        </p:txBody>
      </p:sp>
      <p:pic>
        <p:nvPicPr>
          <p:cNvPr id="394" name="Google Shape;394;p43"/>
          <p:cNvPicPr preferRelativeResize="0"/>
          <p:nvPr/>
        </p:nvPicPr>
        <p:blipFill rotWithShape="1">
          <a:blip r:embed="rId3">
            <a:alphaModFix/>
          </a:blip>
          <a:srcRect b="0" l="0" r="0" t="0"/>
          <a:stretch/>
        </p:blipFill>
        <p:spPr>
          <a:xfrm>
            <a:off x="7358300" y="374688"/>
            <a:ext cx="648634" cy="648634"/>
          </a:xfrm>
          <a:prstGeom prst="rect">
            <a:avLst/>
          </a:prstGeom>
          <a:noFill/>
          <a:ln>
            <a:noFill/>
          </a:ln>
        </p:spPr>
      </p:pic>
      <p:sp>
        <p:nvSpPr>
          <p:cNvPr id="395" name="Google Shape;395;p43"/>
          <p:cNvSpPr txBox="1"/>
          <p:nvPr>
            <p:ph type="title"/>
          </p:nvPr>
        </p:nvSpPr>
        <p:spPr>
          <a:xfrm>
            <a:off x="1125275" y="211470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s"/>
              <a:t>¡ Gracias por su Atencion !</a:t>
            </a:r>
            <a:endParaRPr b="1"/>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